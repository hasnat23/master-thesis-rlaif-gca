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Master_Thesis_Proposal_RLAIF_GCA.pdf, title page and thesis title.
- README for 21-04-2026 on GitHub: meeting date and current update context (https://github.com/hasnat23/master-thesis-rlaif-gca/tree/main/progress-updates/21-04-2026).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Proposal pages 3–8: problem statement, research gap, novelty, research questions, and methodology.
- Specifically the proposal states that only feedback granularity changes while model, candidate pool, DPO recipe, and compute budget are held constant.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Phase1_Phase2_Progress_Update.pdf: prototype pipeline, alignment, GCA, reliability controls, human audit preparation.
- Biweekly_Progress_Update (Master Thesis).pdf: MOGON access working and 20-sample baseline run.
- GitHub README 21-04-2026: 200-sample subset confirmed; candidate generation job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README 21-04-2026 lines 270–301: codebase modules, subset, and pilot baseline metrics.
- Earlier progress update PDF: prototype preprocessing, candidate generation, ROUGE evaluation, judge formats, alignment, GCA, and audit preparation.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Proposal pages 7–10, especially the pipeline diagram on page 9 and the methodology text on pages 7–9.
- GitHub README 21-04-2026 lines 271–283 and lines 375–382 for the implemented code modules and current GCA scoring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README 21-04-2026 lines 264–267, 305–372, 395–412.
- These lines cover the running job, the smoke test, the bug fix, the environment, and the current blockers.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Proposal timeline and implementation plan on pages 10–11.
- Earlier progress PDFs: immediate next steps.
- GitHub README: upcoming Phase 2 → Phase 3 actions and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Proposal pages 7–11: reliability plan, threats to validity, mitigations, timeline, and expected outcomes.
- GitHub README blockers / risks section for current operational risks.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822960"/>
            <a:ext cx="3840480" cy="0"/>
          </a:xfrm>
          <a:prstGeom prst="line">
            <a:avLst/>
          </a:prstGeom>
          <a:noFill/>
          <a:ln w="17780">
            <a:solidFill>
              <a:srgbClr val="2FA4D8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6035040"/>
            <a:ext cx="3840480" cy="0"/>
          </a:xfrm>
          <a:prstGeom prst="line">
            <a:avLst/>
          </a:prstGeom>
          <a:noFill/>
          <a:ln w="17780">
            <a:solidFill>
              <a:srgbClr val="2FA4D8">
                <a:alpha val="8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52360" y="2011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FE9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feedback granularity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FE9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factual summarization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3154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7CFE9"/>
                </a:solidFill>
              </a:rPr>
              <a:t>holistic labels  vs  sentence-level labels + GCA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Master Thesis Progress Update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Benchmarking Holistic vs Sentence-Level RLAIF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Factual Summarization via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Granular Credit Assignment (GCA)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3154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8F0"/>
                </a:solidFill>
              </a:rPr>
              <a:t>Biweekly meeting • 21 April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4114800" cy="0"/>
          </a:xfrm>
          <a:prstGeom prst="line">
            <a:avLst/>
          </a:prstGeom>
          <a:noFill/>
          <a:ln w="15240">
            <a:solidFill>
              <a:srgbClr val="4BB9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8862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DD8"/>
                </a:solidFill>
              </a:rPr>
              <a:t>Student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76272" y="38679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Muhammad Hasnat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42702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DD8"/>
                </a:solidFill>
              </a:rPr>
              <a:t>Supervisors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76272" y="42519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Dr. Zeyd Boukhers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Prof. Dr. Frank Hopfgartner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48920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DD8"/>
                </a:solidFill>
              </a:rPr>
              <a:t>Mentor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76272" y="48737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Lingxiao Kong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291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D9F5"/>
                </a:solidFill>
              </a:rPr>
              <a:t>University of Koblenz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5440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E6F6"/>
                </a:solidFill>
              </a:rPr>
              <a:t>Topic • progress • next steps • risks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Thesis topic and controlled comparison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2651760" cy="0"/>
          </a:xfrm>
          <a:prstGeom prst="line">
            <a:avLst/>
          </a:prstGeom>
          <a:noFill/>
          <a:ln w="19050">
            <a:solidFill>
              <a:srgbClr val="123E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86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C8F"/>
                </a:solidFill>
              </a:rPr>
              <a:t>The core question is whether more granular AI feedback improves factual reliability in long-form summarization.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55321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399032"/>
            <a:ext cx="1417320" cy="256032"/>
          </a:xfrm>
          <a:prstGeom prst="roundRect">
            <a:avLst>
              <a:gd name="adj" fmla="val 35714"/>
            </a:avLst>
          </a:prstGeom>
          <a:solidFill>
            <a:srgbClr val="123E7C"/>
          </a:solidFill>
          <a:ln w="12700">
            <a:solidFill>
              <a:srgbClr val="123E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08176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Research question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737360"/>
            <a:ext cx="48463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F3B4D"/>
                </a:solidFill>
              </a:rPr>
              <a:t>For long news summaries, are holistic A/B AI preferences enough, or does sentence-level supervision aggregated via GCA lead to more factually consistent outputs under the same DPO setup?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14F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41071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F3B4D"/>
                </a:solidFill>
              </a:rPr>
              <a:t>A few factual mistakes can dominate the quality of an otherwise fluent summary.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2404872" y="3182112"/>
            <a:ext cx="0" cy="91440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14F"/>
                </a:solidFill>
              </a:rPr>
              <a:t>What stays fixed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42032" y="341071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F3B4D"/>
                </a:solidFill>
              </a:rPr>
              <a:t>Base model, candidate pool, DPO recipe, compute budget.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078224" y="3182112"/>
            <a:ext cx="0" cy="91440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5384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14F"/>
                </a:solidFill>
              </a:rPr>
              <a:t>What changes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15384" y="341071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F3B4D"/>
                </a:solidFill>
              </a:rPr>
              <a:t>Only the feedback granularity: holistic labels vs sentence-level labels + GCA.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355080" y="1143000"/>
            <a:ext cx="5266944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39903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1E8E78"/>
          </a:solidFill>
          <a:ln w="12700">
            <a:solidFill>
              <a:srgbClr val="1E8E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408176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Experimental setup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42832" y="1965960"/>
            <a:ext cx="0" cy="2331720"/>
          </a:xfrm>
          <a:prstGeom prst="line">
            <a:avLst/>
          </a:prstGeom>
          <a:noFill/>
          <a:ln w="15240">
            <a:solidFill>
              <a:srgbClr val="D7DF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029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E7C"/>
                </a:solidFill>
              </a:rPr>
              <a:t>Holistic RLAIF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75120" y="2487168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2F3B4D"/>
                </a:solidFill>
              </a:rPr>
              <a:t>Judge compares full Summary A vs Summary B and emits one overall preference.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6675120" y="37033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i="1" dirty="0">
                <a:solidFill>
                  <a:srgbClr val="6F7C8F"/>
                </a:solidFill>
              </a:rPr>
              <a:t>Cheaper signal, but coarse.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9162288" y="20299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8E78"/>
                </a:solidFill>
              </a:rPr>
              <a:t>Sentence-level + GCA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2288" y="2414016"/>
            <a:ext cx="2057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2F3B4D"/>
                </a:solidFill>
              </a:rPr>
              <a:t>Judge compares aligned sentence pairs, then aggregates local wins into one summary-level preference.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9144000" y="370332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i="1" dirty="0">
                <a:solidFill>
                  <a:srgbClr val="6F7C8F"/>
                </a:solidFill>
              </a:rPr>
              <a:t>Denser signal and easier diagnosis.</a:t>
            </a:r>
            <a:endParaRPr lang="en-US" sz="1160" dirty="0"/>
          </a:p>
        </p:txBody>
      </p:sp>
      <p:sp>
        <p:nvSpPr>
          <p:cNvPr id="27" name="Shape 25"/>
          <p:cNvSpPr/>
          <p:nvPr/>
        </p:nvSpPr>
        <p:spPr>
          <a:xfrm>
            <a:off x="6656832" y="4572000"/>
            <a:ext cx="4645152" cy="658368"/>
          </a:xfrm>
          <a:prstGeom prst="roundRect">
            <a:avLst>
              <a:gd name="adj" fmla="val 11111"/>
            </a:avLst>
          </a:prstGeom>
          <a:solidFill>
            <a:srgbClr val="F7FAFE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39712" y="4745736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F3B4D"/>
                </a:solidFill>
              </a:rPr>
              <a:t>Main outputs: factuality metrics, judge reliability, human audit agreement, and error analysis by error type.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status 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2651760" cy="0"/>
          </a:xfrm>
          <a:prstGeom prst="line">
            <a:avLst/>
          </a:prstGeom>
          <a:noFill/>
          <a:ln w="19050">
            <a:solidFill>
              <a:srgbClr val="123E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86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C8F"/>
                </a:solidFill>
              </a:rPr>
              <a:t>The project has moved from proposal to an executable research pipeline.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EAF7F0"/>
          </a:solidFill>
          <a:ln w="12700">
            <a:solidFill>
              <a:srgbClr val="2E9F5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72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F5B"/>
                </a:solidFill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847088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2F3B4D"/>
                </a:solidFill>
              </a:rPr>
              <a:t>Setup &amp; baselines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04672" y="241401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E9F5B"/>
                </a:solidFill>
              </a:rPr>
              <a:t>Complete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2587752" y="1883664"/>
            <a:ext cx="256032" cy="365760"/>
          </a:xfrm>
          <a:prstGeom prst="chevron">
            <a:avLst/>
          </a:prstGeom>
          <a:solidFill>
            <a:srgbClr val="D7DFEA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32588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EAF7F0"/>
          </a:solidFill>
          <a:ln w="12700">
            <a:solidFill>
              <a:srgbClr val="2E9F5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63240" y="1572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F5B"/>
                </a:solidFill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44952" y="1847088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2F3B4D"/>
                </a:solidFill>
              </a:rPr>
              <a:t>Judge formats &amp; GCA prototype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3044952" y="241401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E9F5B"/>
                </a:solidFill>
              </a:rPr>
              <a:t>Implemented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828032" y="1883664"/>
            <a:ext cx="256032" cy="365760"/>
          </a:xfrm>
          <a:prstGeom prst="chevron">
            <a:avLst/>
          </a:prstGeom>
          <a:solidFill>
            <a:srgbClr val="D7DFEA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132588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EAF2FF"/>
          </a:solidFill>
          <a:ln w="12700">
            <a:solidFill>
              <a:srgbClr val="123E7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0" y="1572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E7C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85232" y="1847088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2F3B4D"/>
                </a:solidFill>
              </a:rPr>
              <a:t>MOGON GPU access and runs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5285232" y="241401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E7C"/>
                </a:solidFill>
              </a:rPr>
              <a:t>Working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068312" y="1883664"/>
            <a:ext cx="256032" cy="365760"/>
          </a:xfrm>
          <a:prstGeom prst="chevron">
            <a:avLst/>
          </a:prstGeom>
          <a:solidFill>
            <a:srgbClr val="D7DFEA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132588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4E8"/>
          </a:solidFill>
          <a:ln w="12700">
            <a:solidFill>
              <a:srgbClr val="E48A1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43800" y="1572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8A1C"/>
                </a:solidFill>
              </a:rPr>
              <a:t>Phase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25512" y="1847088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2F3B4D"/>
                </a:solidFill>
              </a:rPr>
              <a:t>Preference labeling at scale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7525512" y="241401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48A1C"/>
                </a:solidFill>
              </a:rPr>
              <a:t>Next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308592" y="1883664"/>
            <a:ext cx="256032" cy="365760"/>
          </a:xfrm>
          <a:prstGeom prst="chevron">
            <a:avLst/>
          </a:prstGeom>
          <a:solidFill>
            <a:srgbClr val="D7DFEA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46920" y="132588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5F0FF"/>
          </a:solidFill>
          <a:ln w="12700">
            <a:solidFill>
              <a:srgbClr val="7A57C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84080" y="1572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7C2"/>
                </a:solidFill>
              </a:rPr>
              <a:t>Phase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65792" y="1847088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2F3B4D"/>
                </a:solidFill>
              </a:rPr>
              <a:t>DPO fine-tuning + full evaluation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9765792" y="241401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A57C2"/>
                </a:solidFill>
              </a:rPr>
              <a:t>Upcoming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85800" y="32004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3447288"/>
            <a:ext cx="1600200" cy="256032"/>
          </a:xfrm>
          <a:prstGeom prst="roundRect">
            <a:avLst>
              <a:gd name="adj" fmla="val 35714"/>
            </a:avLst>
          </a:prstGeom>
          <a:solidFill>
            <a:srgbClr val="123E7C"/>
          </a:solidFill>
          <a:ln w="12700">
            <a:solidFill>
              <a:srgbClr val="123E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456432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is already in place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3767328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F3B4D"/>
                </a:solidFill>
              </a:rPr>
              <a:t>Runnable prototype covering preprocessing, sentence splitting, candidate construction, and baseline ROUGE.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F3B4D"/>
                </a:solidFill>
              </a:rPr>
              <a:t>Holistic judging format and sentence-level judging format are designed around preference, rationale, and confidence.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F3B4D"/>
                </a:solidFill>
              </a:rPr>
              <a:t>Semantic sentence alignment and majority-based GCA prototype are implemented.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F3B4D"/>
                </a:solidFill>
              </a:rPr>
              <a:t>Human audit plan and sampling logic are defined.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55080" y="3200400"/>
            <a:ext cx="514807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0" y="3447288"/>
            <a:ext cx="1417320" cy="256032"/>
          </a:xfrm>
          <a:prstGeom prst="roundRect">
            <a:avLst>
              <a:gd name="adj" fmla="val 35714"/>
            </a:avLst>
          </a:prstGeom>
          <a:solidFill>
            <a:srgbClr val="1E8E78"/>
          </a:solidFill>
          <a:ln w="12700">
            <a:solidFill>
              <a:srgbClr val="1E8E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3456432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Execution milestone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01968" y="37947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14F"/>
                </a:solidFill>
              </a:rPr>
              <a:t>MOGON is accessible and the thesis workflow already ran end to end on university GPU resources.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629400" y="452628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BFD4F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93608" y="452628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BFD4F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957816" y="452628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BFD4F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29400" y="46451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E7C"/>
                </a:solidFill>
              </a:rPr>
              <a:t>20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629400" y="495604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F"/>
                </a:solidFill>
              </a:rPr>
              <a:t>pilot samples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93608" y="46451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E7C"/>
                </a:solidFill>
              </a:rPr>
              <a:t>200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8293608" y="495604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F"/>
                </a:solidFill>
              </a:rPr>
              <a:t>selected subset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957816" y="46451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E7C"/>
                </a:solidFill>
              </a:rPr>
              <a:t>1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9957816" y="49560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C8F"/>
                </a:solidFill>
              </a:rPr>
              <a:t>running job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has already been done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2651760" cy="0"/>
          </a:xfrm>
          <a:prstGeom prst="line">
            <a:avLst/>
          </a:prstGeom>
          <a:noFill/>
          <a:ln w="19050">
            <a:solidFill>
              <a:srgbClr val="123E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86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C8F"/>
                </a:solidFill>
              </a:rPr>
              <a:t>Progress combines methodology setup, code implementation, and infrastructure validation.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2880360" cy="507492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481328"/>
            <a:ext cx="1783080" cy="256032"/>
          </a:xfrm>
          <a:prstGeom prst="roundRect">
            <a:avLst>
              <a:gd name="adj" fmla="val 35714"/>
            </a:avLst>
          </a:prstGeom>
          <a:solidFill>
            <a:srgbClr val="123E7C"/>
          </a:solidFill>
          <a:ln w="12700">
            <a:solidFill>
              <a:srgbClr val="123E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490472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Pipeline foundations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96512" y="1234440"/>
            <a:ext cx="2880360" cy="507492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481328"/>
            <a:ext cx="1783080" cy="256032"/>
          </a:xfrm>
          <a:prstGeom prst="roundRect">
            <a:avLst>
              <a:gd name="adj" fmla="val 35714"/>
            </a:avLst>
          </a:prstGeom>
          <a:solidFill>
            <a:srgbClr val="1E8E78"/>
          </a:solidFill>
          <a:ln w="12700">
            <a:solidFill>
              <a:srgbClr val="1E8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490472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Judging and GCA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98664" y="1234440"/>
            <a:ext cx="2880360" cy="507492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99832" y="1481328"/>
            <a:ext cx="1783080" cy="256032"/>
          </a:xfrm>
          <a:prstGeom prst="roundRect">
            <a:avLst>
              <a:gd name="adj" fmla="val 35714"/>
            </a:avLst>
          </a:prstGeom>
          <a:solidFill>
            <a:srgbClr val="E48A1C"/>
          </a:solidFill>
          <a:ln w="12700">
            <a:solidFill>
              <a:srgbClr val="E48A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9832" y="1490472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Infrastructure and measurable outputs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87452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F3B4D"/>
                </a:solidFill>
              </a:rPr>
              <a:t>Deterministic subset selection and preprocessing.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F3B4D"/>
                </a:solidFill>
              </a:rPr>
              <a:t>Consistent sentence segmentation for both comparison regimes.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F3B4D"/>
                </a:solidFill>
              </a:rPr>
              <a:t>Candidate generation pipeline prepared for fixed A/B pools.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F3B4D"/>
                </a:solidFill>
              </a:rPr>
              <a:t>Baseline evaluation with ROUGE already reproducible.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F3B4D"/>
                </a:solidFill>
              </a:rPr>
              <a:t>YAML-configured scripts and dataclass-based data flow in the repo.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325112" y="1874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2F3B4D"/>
                </a:solidFill>
              </a:rPr>
              <a:t>Holistic A/B judge prompt defined with rationale and confidence.</a:t>
            </a: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2F3B4D"/>
                </a:solidFill>
              </a:rPr>
              <a:t>Sentence-level pair judging implemented after alignment.</a:t>
            </a: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2F3B4D"/>
                </a:solidFill>
              </a:rPr>
              <a:t>Reliability controls prepared: confidence gating, A/B swap, rationale validation.</a:t>
            </a: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2F3B4D"/>
                </a:solidFill>
              </a:rPr>
              <a:t>Aggregation logic implemented; current repo version uses a confidence-aware GCA score.</a:t>
            </a:r>
            <a:endParaRPr lang="en-US" sz="1310" dirty="0"/>
          </a:p>
          <a:p>
            <a:pPr marL="177800" indent="-177800">
              <a:buSzPct val="100000"/>
              <a:buChar char="•"/>
            </a:pPr>
            <a:r>
              <a:rPr lang="en-US" sz="1310" dirty="0">
                <a:solidFill>
                  <a:srgbClr val="2F3B4D"/>
                </a:solidFill>
              </a:rPr>
              <a:t>Human audit design is ready for execution.</a:t>
            </a:r>
            <a:endParaRPr lang="en-US" sz="1310" dirty="0"/>
          </a:p>
        </p:txBody>
      </p:sp>
      <p:sp>
        <p:nvSpPr>
          <p:cNvPr id="16" name="Text 14"/>
          <p:cNvSpPr/>
          <p:nvPr/>
        </p:nvSpPr>
        <p:spPr>
          <a:xfrm>
            <a:off x="7845552" y="1828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14F"/>
                </a:solidFill>
              </a:rPr>
              <a:t>Pilot baseline metrics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8314F"/>
                </a:solidFill>
              </a:rPr>
              <a:t>(20-sample run)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36992" y="2331720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F8FA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241401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F3B4D"/>
                </a:solidFill>
              </a:rPr>
              <a:t>ROUGE-1                                                           0.3278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936992" y="2834640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EEF4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291693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F3B4D"/>
                </a:solidFill>
              </a:rPr>
              <a:t>ROUGE-2                                                           0.1201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936992" y="3337560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F8FAFD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341985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F3B4D"/>
                </a:solidFill>
              </a:rPr>
              <a:t>ROUGE-L                                                           0.2341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936992" y="3840480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EEF4FB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9227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F3B4D"/>
                </a:solidFill>
              </a:rPr>
              <a:t>BERTScore F1                                                           0.8612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7845552" y="46177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 w="12700">
            <a:solidFill>
              <a:srgbClr val="F1D1A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10144" y="47731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F11"/>
                </a:solidFill>
              </a:rPr>
              <a:t>Important context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91856" y="501091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2F3B4D"/>
                </a:solidFill>
              </a:rPr>
              <a:t>These are baseline comparison numbers before preference training, not final thesis results.</a:t>
            </a:r>
            <a:endParaRPr lang="en-US" sz="10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and pipeline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2651760" cy="0"/>
          </a:xfrm>
          <a:prstGeom prst="line">
            <a:avLst/>
          </a:prstGeom>
          <a:noFill/>
          <a:ln w="19050">
            <a:solidFill>
              <a:srgbClr val="123E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86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C8F"/>
                </a:solidFill>
              </a:rPr>
              <a:t>The thesis compares two preference-labeling regimes under the same training objective.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170432"/>
            <a:ext cx="653796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thesis_slides/proposal_p9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4422" y="1444752"/>
            <a:ext cx="3002973" cy="3886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54864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7C8F"/>
                </a:solidFill>
              </a:rPr>
              <a:t>Pipeline figure from the proposal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0" y="1170432"/>
            <a:ext cx="4315968" cy="516636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71232" y="1426464"/>
            <a:ext cx="1280160" cy="256032"/>
          </a:xfrm>
          <a:prstGeom prst="roundRect">
            <a:avLst>
              <a:gd name="adj" fmla="val 35714"/>
            </a:avLst>
          </a:prstGeom>
          <a:solidFill>
            <a:srgbClr val="123E7C"/>
          </a:solidFill>
          <a:ln w="12700">
            <a:solidFill>
              <a:srgbClr val="123E7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71232" y="1435608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Design choices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571232" y="18105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B4D"/>
                </a:solidFill>
              </a:rPr>
              <a:t>Task — Single-document news summarization on a controlled CNN/DailyMail subset.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71232" y="24323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B4D"/>
                </a:solidFill>
              </a:rPr>
              <a:t>Model — Instruction-tuned 7B model; current MOGON setup uses Mistral-7B-Instruct-v0.3.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71232" y="30540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B4D"/>
                </a:solidFill>
              </a:rPr>
              <a:t>Training — Offline preference optimization with DPO and QLoRA.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571232" y="367588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B4D"/>
                </a:solidFill>
              </a:rPr>
              <a:t>Judging — Holistic full-summary A/B preference vs sentence-level aligned pair judgments.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71232" y="42976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B4D"/>
                </a:solidFill>
              </a:rPr>
              <a:t>Reliability — Confidence gating, order randomization, rationale validation, and human audit.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571232" y="491947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B4D"/>
                </a:solidFill>
              </a:rPr>
              <a:t>Evaluation — ROUGE and BERTScore now; SummaC, QAFactEval, and human agreement next.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571232" y="544068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EAF7F0"/>
          </a:solidFill>
          <a:ln w="12700">
            <a:solidFill>
              <a:srgbClr val="CBE8D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26680" y="55961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F3B4D"/>
                </a:solidFill>
              </a:rPr>
              <a:t>Current GCA idea in the repo: aggregate sentence judgments into one summary preference while penalizing weak local sentences.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Today's meeting update from the repo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2651760" cy="0"/>
          </a:xfrm>
          <a:prstGeom prst="line">
            <a:avLst/>
          </a:prstGeom>
          <a:noFill/>
          <a:ln w="19050">
            <a:solidFill>
              <a:srgbClr val="123E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86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C8F"/>
                </a:solidFill>
              </a:rPr>
              <a:t>This is the most current operational view for 21 April 2026.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3886200" cy="530352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426464"/>
            <a:ext cx="1051560" cy="256032"/>
          </a:xfrm>
          <a:prstGeom prst="roundRect">
            <a:avLst>
              <a:gd name="adj" fmla="val 35714"/>
            </a:avLst>
          </a:prstGeom>
          <a:solidFill>
            <a:srgbClr val="1E8E78"/>
          </a:solidFill>
          <a:ln w="12700">
            <a:solidFill>
              <a:srgbClr val="1E8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35608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status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93852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B4D"/>
                </a:solidFill>
              </a:rPr>
              <a:t>Phase 1 is complete. Phase 2 infrastructure is implemented. The 200-sample candidate generation job is running on MOGON NHR A100.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32461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AF2FF"/>
          </a:solidFill>
          <a:ln w="12700">
            <a:solidFill>
              <a:srgbClr val="BFD4F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24128" y="34564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E7C"/>
                </a:solidFill>
              </a:rPr>
              <a:t>Smoke test passed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37307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F3B4D"/>
                </a:solidFill>
              </a:rPr>
              <a:t>Job 1068925 validated conda activation, GPU detection, dataset loading, model loading, and generation.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1024128" y="42336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C8F"/>
                </a:solidFill>
              </a:rPr>
              <a:t>5 samples • opt-125m • exit code 0:0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484632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4E8"/>
          </a:solidFill>
          <a:ln w="12700">
            <a:solidFill>
              <a:srgbClr val="F1D1A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24128" y="50566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F11"/>
                </a:solidFill>
              </a:rPr>
              <a:t>Bug fixes already handled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53218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F3B4D"/>
                </a:solidFill>
              </a:rPr>
              <a:t>transformers 5.x / bitsandbytes issue fixed; switched to bfloat16 and corrected rsync paths.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4709160" y="1170432"/>
            <a:ext cx="2971800" cy="530352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56048" y="1426464"/>
            <a:ext cx="1417320" cy="256032"/>
          </a:xfrm>
          <a:prstGeom prst="roundRect">
            <a:avLst>
              <a:gd name="adj" fmla="val 35714"/>
            </a:avLst>
          </a:prstGeom>
          <a:solidFill>
            <a:srgbClr val="123E7C"/>
          </a:solidFill>
          <a:ln w="12700">
            <a:solidFill>
              <a:srgbClr val="123E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43560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Operational details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10912" y="18379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F3B4D"/>
                </a:solidFill>
              </a:rPr>
              <a:t>Cluster — MOGON NHR / partition a100dl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4956048" y="2148840"/>
            <a:ext cx="24231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24323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F3B4D"/>
                </a:solidFill>
              </a:rPr>
              <a:t>GPU — NVIDIA A100-SXM4-40GB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4956048" y="2743200"/>
            <a:ext cx="24231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302666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F3B4D"/>
                </a:solidFill>
              </a:rPr>
              <a:t>Model — Mistral-7B-Instruct-v0.3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4956048" y="3337560"/>
            <a:ext cx="24231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36210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F3B4D"/>
                </a:solidFill>
              </a:rPr>
              <a:t>Subset — 200 articles with SHA256 IDs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4956048" y="3931920"/>
            <a:ext cx="24231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42153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F3B4D"/>
                </a:solidFill>
              </a:rPr>
              <a:t>Output target — 400 candidate summaries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4956048" y="4526280"/>
            <a:ext cx="24231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48097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F3B4D"/>
                </a:solidFill>
              </a:rPr>
              <a:t>Status — No crash after model load; generation in progress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4956048" y="5120640"/>
            <a:ext cx="24231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9560" y="1170432"/>
            <a:ext cx="3657600" cy="5303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56448" y="1426464"/>
            <a:ext cx="1325880" cy="256032"/>
          </a:xfrm>
          <a:prstGeom prst="roundRect">
            <a:avLst>
              <a:gd name="adj" fmla="val 35714"/>
            </a:avLst>
          </a:prstGeom>
          <a:solidFill>
            <a:srgbClr val="E48A1C"/>
          </a:solidFill>
          <a:ln w="12700">
            <a:solidFill>
              <a:srgbClr val="E48A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56448" y="143560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Immediate blockers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83880" y="187452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4E8"/>
          </a:solidFill>
          <a:ln w="12700">
            <a:solidFill>
              <a:srgbClr val="F1D1A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366760" y="20116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314F"/>
                </a:solidFill>
              </a:rPr>
              <a:t>OpenAI API key on MOGON</a:t>
            </a:r>
            <a:endParaRPr lang="en-US" sz="1230" dirty="0"/>
          </a:p>
        </p:txBody>
      </p:sp>
      <p:sp>
        <p:nvSpPr>
          <p:cNvPr id="36" name="Text 34"/>
          <p:cNvSpPr/>
          <p:nvPr/>
        </p:nvSpPr>
        <p:spPr>
          <a:xfrm>
            <a:off x="8366760" y="2240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B4D"/>
                </a:solidFill>
              </a:rPr>
              <a:t>Needed for Phase 3 judging, not for current candidate generation.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183880" y="301752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CECEC"/>
          </a:solidFill>
          <a:ln w="12700">
            <a:solidFill>
              <a:srgbClr val="F0BDB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366760" y="31546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314F"/>
                </a:solidFill>
              </a:rPr>
              <a:t>Sentence alignment noise</a:t>
            </a:r>
            <a:endParaRPr lang="en-US" sz="1230" dirty="0"/>
          </a:p>
        </p:txBody>
      </p:sp>
      <p:sp>
        <p:nvSpPr>
          <p:cNvPr id="39" name="Text 37"/>
          <p:cNvSpPr/>
          <p:nvPr/>
        </p:nvSpPr>
        <p:spPr>
          <a:xfrm>
            <a:off x="8366760" y="3383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B4D"/>
                </a:solidFill>
              </a:rPr>
              <a:t>Will be quantified with semantic vs index-based ablation.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8183880" y="4160520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2700">
            <a:solidFill>
              <a:srgbClr val="BFD4F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66760" y="42976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8314F"/>
                </a:solidFill>
              </a:rPr>
              <a:t>Factuality metrics pending</a:t>
            </a:r>
            <a:endParaRPr lang="en-US" sz="1230" dirty="0"/>
          </a:p>
        </p:txBody>
      </p:sp>
      <p:sp>
        <p:nvSpPr>
          <p:cNvPr id="42" name="Text 40"/>
          <p:cNvSpPr/>
          <p:nvPr/>
        </p:nvSpPr>
        <p:spPr>
          <a:xfrm>
            <a:off x="8366760" y="4526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B4D"/>
                </a:solidFill>
              </a:rPr>
              <a:t>SummaC and QAFactEval depend on generated candidate file.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comes next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2651760" cy="0"/>
          </a:xfrm>
          <a:prstGeom prst="line">
            <a:avLst/>
          </a:prstGeom>
          <a:noFill/>
          <a:ln w="19050">
            <a:solidFill>
              <a:srgbClr val="123E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86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C8F"/>
                </a:solidFill>
              </a:rPr>
              <a:t>Immediate plan for moving from prototype execution to the main comparison experiment.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41248" y="1325880"/>
            <a:ext cx="104698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435608"/>
            <a:ext cx="384048" cy="384048"/>
          </a:xfrm>
          <a:prstGeom prst="ellipse">
            <a:avLst/>
          </a:prstGeom>
          <a:solidFill>
            <a:srgbClr val="123E7C"/>
          </a:solidFill>
          <a:ln w="12700">
            <a:solidFill>
              <a:srgbClr val="123E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4996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426464"/>
            <a:ext cx="923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B4D"/>
                </a:solidFill>
              </a:rPr>
              <a:t>Finish stable baseline generation — Complete and verify the 200-sample candidate pool on MOGON.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1179576" y="2020824"/>
            <a:ext cx="0" cy="256032"/>
          </a:xfrm>
          <a:prstGeom prst="line">
            <a:avLst/>
          </a:prstGeom>
          <a:noFill/>
          <a:ln w="15240">
            <a:solidFill>
              <a:srgbClr val="D7DFE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41248" y="2258568"/>
            <a:ext cx="104698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87552" y="2368296"/>
            <a:ext cx="384048" cy="384048"/>
          </a:xfrm>
          <a:prstGeom prst="ellipse">
            <a:avLst/>
          </a:prstGeom>
          <a:solidFill>
            <a:srgbClr val="123E7C"/>
          </a:solidFill>
          <a:ln w="12700">
            <a:solidFill>
              <a:srgbClr val="123E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43230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2359152"/>
            <a:ext cx="923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B4D"/>
                </a:solidFill>
              </a:rPr>
              <a:t>Compute baseline metrics — Run ROUGE, BERTScore, then add SummaC and QAFactEval.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1179576" y="2953512"/>
            <a:ext cx="0" cy="256032"/>
          </a:xfrm>
          <a:prstGeom prst="line">
            <a:avLst/>
          </a:prstGeom>
          <a:noFill/>
          <a:ln w="15240">
            <a:solidFill>
              <a:srgbClr val="D7DFE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41248" y="3191256"/>
            <a:ext cx="104698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87552" y="3300984"/>
            <a:ext cx="384048" cy="384048"/>
          </a:xfrm>
          <a:prstGeom prst="ellipse">
            <a:avLst/>
          </a:prstGeom>
          <a:solidFill>
            <a:srgbClr val="123E7C"/>
          </a:solidFill>
          <a:ln w="12700">
            <a:solidFill>
              <a:srgbClr val="123E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3649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3291840"/>
            <a:ext cx="923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B4D"/>
                </a:solidFill>
              </a:rPr>
              <a:t>Start judge prompt tests — Run a small judge test with reliability checks and filtered outputs.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1179576" y="3886200"/>
            <a:ext cx="0" cy="256032"/>
          </a:xfrm>
          <a:prstGeom prst="line">
            <a:avLst/>
          </a:prstGeom>
          <a:noFill/>
          <a:ln w="15240">
            <a:solidFill>
              <a:srgbClr val="D7DFE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41248" y="4123944"/>
            <a:ext cx="104698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87552" y="4233672"/>
            <a:ext cx="384048" cy="384048"/>
          </a:xfrm>
          <a:prstGeom prst="ellipse">
            <a:avLst/>
          </a:prstGeom>
          <a:solidFill>
            <a:srgbClr val="123E7C"/>
          </a:solidFill>
          <a:ln w="12700">
            <a:solidFill>
              <a:srgbClr val="123E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2976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4224528"/>
            <a:ext cx="923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B4D"/>
                </a:solidFill>
              </a:rPr>
              <a:t>Build preference datasets — Construct holistic and sentence-level preference pairs from the same candidate pool.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1179576" y="4818888"/>
            <a:ext cx="0" cy="256032"/>
          </a:xfrm>
          <a:prstGeom prst="line">
            <a:avLst/>
          </a:prstGeom>
          <a:noFill/>
          <a:ln w="15240">
            <a:solidFill>
              <a:srgbClr val="D7DFE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41248" y="5056632"/>
            <a:ext cx="104698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7552" y="5166360"/>
            <a:ext cx="384048" cy="384048"/>
          </a:xfrm>
          <a:prstGeom prst="ellipse">
            <a:avLst/>
          </a:prstGeom>
          <a:solidFill>
            <a:srgbClr val="123E7C"/>
          </a:solidFill>
          <a:ln w="12700">
            <a:solidFill>
              <a:srgbClr val="123E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523036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54480" y="5157216"/>
            <a:ext cx="923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B4D"/>
                </a:solidFill>
              </a:rPr>
              <a:t>Human audit + DPO training — Audit selected pairs, then fine-tune both models under identical settings.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841248" y="5760720"/>
            <a:ext cx="10469880" cy="685800"/>
          </a:xfrm>
          <a:prstGeom prst="roundRect">
            <a:avLst>
              <a:gd name="adj" fmla="val 10667"/>
            </a:avLst>
          </a:prstGeom>
          <a:solidFill>
            <a:srgbClr val="EAF2FF"/>
          </a:solidFill>
          <a:ln w="12700">
            <a:solidFill>
              <a:srgbClr val="BFD4F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78992" y="59893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B4D"/>
                </a:solidFill>
              </a:rPr>
              <a:t>Next meeting target — baseline generation finished, judge prompts validated, and a clear path to build both preference datasets from the same candidate pool.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Challenges, mitigations, and discussion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2651760" cy="0"/>
          </a:xfrm>
          <a:prstGeom prst="line">
            <a:avLst/>
          </a:prstGeom>
          <a:noFill/>
          <a:ln w="19050">
            <a:solidFill>
              <a:srgbClr val="123E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86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C8F"/>
                </a:solidFill>
              </a:rPr>
              <a:t>The thesis is designed to make both positive and negative results meaningful.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1417320"/>
            <a:ext cx="2487168" cy="3840480"/>
          </a:xfrm>
          <a:prstGeom prst="roundRect">
            <a:avLst>
              <a:gd name="adj" fmla="val 2941"/>
            </a:avLst>
          </a:prstGeom>
          <a:solidFill>
            <a:srgbClr val="FCECEC"/>
          </a:solidFill>
          <a:ln w="12700">
            <a:solidFill>
              <a:srgbClr val="C7474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16642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14F"/>
                </a:solidFill>
              </a:rPr>
              <a:t>Judge noise / bias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50976" y="2130552"/>
            <a:ext cx="2011680" cy="0"/>
          </a:xfrm>
          <a:prstGeom prst="line">
            <a:avLst/>
          </a:prstGeom>
          <a:noFill/>
          <a:ln w="12700">
            <a:solidFill>
              <a:srgbClr val="C747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304288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F3B4D"/>
                </a:solidFill>
              </a:rPr>
              <a:t>AI-generated preferences may be unstable or prompt-sensitive.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59536" y="32552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4747"/>
                </a:solidFill>
              </a:rPr>
              <a:t>Mitigation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" y="3529584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2F3B4D"/>
                </a:solidFill>
              </a:rPr>
              <a:t>Confidence gating, A/B swap checks, rationale validation, human audit.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547872" y="1417320"/>
            <a:ext cx="2487168" cy="3840480"/>
          </a:xfrm>
          <a:prstGeom prst="roundRect">
            <a:avLst>
              <a:gd name="adj" fmla="val 2941"/>
            </a:avLst>
          </a:prstGeom>
          <a:solidFill>
            <a:srgbClr val="FFF4E8"/>
          </a:solidFill>
          <a:ln w="12700">
            <a:solidFill>
              <a:srgbClr val="E48A1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94176" y="16642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14F"/>
                </a:solidFill>
              </a:rPr>
              <a:t>Alignment noise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785616" y="2130552"/>
            <a:ext cx="2011680" cy="0"/>
          </a:xfrm>
          <a:prstGeom prst="line">
            <a:avLst/>
          </a:prstGeom>
          <a:noFill/>
          <a:ln w="12700">
            <a:solidFill>
              <a:srgbClr val="E48A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2304288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F3B4D"/>
                </a:solidFill>
              </a:rPr>
              <a:t>Wrong sentence alignment can hide the value of GCA.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3694176" y="32552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8A1C"/>
                </a:solidFill>
              </a:rPr>
              <a:t>Mitigation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12464" y="3529584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2F3B4D"/>
                </a:solidFill>
              </a:rPr>
              <a:t>Compare semantic vs index-based alignment and filter ambiguous cases.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382512" y="1417320"/>
            <a:ext cx="2487168" cy="3840480"/>
          </a:xfrm>
          <a:prstGeom prst="roundRect">
            <a:avLst>
              <a:gd name="adj" fmla="val 2941"/>
            </a:avLst>
          </a:prstGeom>
          <a:solidFill>
            <a:srgbClr val="EAF2FF"/>
          </a:solidFill>
          <a:ln w="12700">
            <a:solidFill>
              <a:srgbClr val="123E7C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28816" y="16642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14F"/>
                </a:solidFill>
              </a:rPr>
              <a:t>Compute and scaling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620256" y="2130552"/>
            <a:ext cx="2011680" cy="0"/>
          </a:xfrm>
          <a:prstGeom prst="line">
            <a:avLst/>
          </a:prstGeom>
          <a:noFill/>
          <a:ln w="12700">
            <a:solidFill>
              <a:srgbClr val="123E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2304288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F3B4D"/>
                </a:solidFill>
              </a:rPr>
              <a:t>Generation, judging, and training must stay within budget.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6528816" y="32552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E7C"/>
                </a:solidFill>
              </a:rPr>
              <a:t>Mitigation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47104" y="3529584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2F3B4D"/>
                </a:solidFill>
              </a:rPr>
              <a:t>Controlled subset, caching, QLoRA, and staged execution on MOGON.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9217152" y="1417320"/>
            <a:ext cx="2487168" cy="3840480"/>
          </a:xfrm>
          <a:prstGeom prst="roundRect">
            <a:avLst>
              <a:gd name="adj" fmla="val 2941"/>
            </a:avLst>
          </a:prstGeom>
          <a:solidFill>
            <a:srgbClr val="EAF7F0"/>
          </a:solidFill>
          <a:ln w="12700">
            <a:solidFill>
              <a:srgbClr val="2E9F5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63456" y="16642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14F"/>
                </a:solidFill>
              </a:rPr>
              <a:t>Metric limitations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454896" y="2130552"/>
            <a:ext cx="2011680" cy="0"/>
          </a:xfrm>
          <a:prstGeom prst="line">
            <a:avLst/>
          </a:prstGeom>
          <a:noFill/>
          <a:ln w="12700">
            <a:solidFill>
              <a:srgbClr val="2E9F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81744" y="2304288"/>
            <a:ext cx="2157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F3B4D"/>
                </a:solidFill>
              </a:rPr>
              <a:t>ROUGE alone does not capture factual reliability.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9363456" y="32552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9F5B"/>
                </a:solidFill>
              </a:rPr>
              <a:t>Mitigation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381744" y="3529584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2F3B4D"/>
                </a:solidFill>
              </a:rPr>
              <a:t>Add factuality metrics and independent human checks before claiming gains.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1234440" y="5650992"/>
            <a:ext cx="973836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5833872"/>
            <a:ext cx="9372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Takeaway for today: the thesis question is clear, the prototype and infrastructure are working, and the next milestone is a stable candidate pool followed by reliable preference labeling.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20440" y="63550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314F"/>
                </a:solidFill>
              </a:rPr>
              <a:t>Questions and supervisor feedback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Thesis Progress Update – 21 April 2026</dc:title>
  <dc:subject>Master Thesis Progress Update</dc:subject>
  <dc:creator>OpenAI</dc:creator>
  <cp:lastModifiedBy>OpenAI</cp:lastModifiedBy>
  <cp:revision>1</cp:revision>
  <dcterms:created xsi:type="dcterms:W3CDTF">2026-04-21T12:46:01Z</dcterms:created>
  <dcterms:modified xsi:type="dcterms:W3CDTF">2026-04-21T12:46:01Z</dcterms:modified>
</cp:coreProperties>
</file>
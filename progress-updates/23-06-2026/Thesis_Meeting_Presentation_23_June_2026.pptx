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20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 Thesis Progress Update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51560" y="2606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RLAIF Reliability Benchmarking and Granular Credit Assignment for Factual Summarization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3246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Muhammad Hasnat · Meeting update · 23 June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86200" y="3730752"/>
            <a:ext cx="4389120" cy="0"/>
          </a:xfrm>
          <a:prstGeom prst="line">
            <a:avLst/>
          </a:prstGeom>
          <a:noFill/>
          <a:ln w="13970">
            <a:solidFill>
              <a:srgbClr val="D7DCE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 structure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2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75895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changed after the last meeting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Architecture before vs. current simplified version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Validation checks before the larger run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 1000-sample reward-model experiments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Current results, stability checks, and next steps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321040" y="1143000"/>
            <a:ext cx="2743200" cy="1645920"/>
          </a:xfrm>
          <a:prstGeom prst="rect">
            <a:avLst/>
          </a:prstGeom>
          <a:solidFill>
            <a:srgbClr val="EAF2FB"/>
          </a:solidFill>
          <a:ln w="7620">
            <a:solidFill>
              <a:srgbClr val="AFCB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Meeting goal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Show that the pipeline was simplified, scaled, and tested more carefully before deciding the next experimental direction.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 of previous feedback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3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822960" y="1024128"/>
            <a:ext cx="5303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comments from the previous meeting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557784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 margin-based preference filtering.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 DPO from the main comparison.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Focus on Bradley-Terry reward-model comparison.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Scale up from the pilot to around 1000 articles.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output sizes and score distributions before training.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720840" y="1024128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 addressed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1463040"/>
            <a:ext cx="4160520" cy="2240280"/>
          </a:xfrm>
          <a:prstGeom prst="rect">
            <a:avLst/>
          </a:prstGeom>
          <a:solidFill>
            <a:srgbClr val="EAF6EF"/>
          </a:solidFill>
          <a:ln w="7620">
            <a:solidFill>
              <a:srgbClr val="B8DA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Current update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• Margin removed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• DPO removed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• 1000-pair run completed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• RM training repeated and analysed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• Backend/mode sweep started for better GCA signal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920240" y="4892040"/>
            <a:ext cx="83210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C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22222"/>
                </a:solidFill>
              </a:rPr>
              <a:t>This update follows the README structure: recap → pipeline changes → validation → experiments → results → next steps.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changes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4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822960" y="1024128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from the current comparison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920240" cy="475488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Removed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2743200" y="1508760"/>
            <a:ext cx="4114800" cy="475488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Reason</a:t>
            </a:r>
            <a:endParaRPr lang="en-US" sz="910" dirty="0"/>
          </a:p>
        </p:txBody>
      </p:sp>
      <p:sp>
        <p:nvSpPr>
          <p:cNvPr id="9" name="Text 7"/>
          <p:cNvSpPr/>
          <p:nvPr/>
        </p:nvSpPr>
        <p:spPr>
          <a:xfrm>
            <a:off x="822960" y="1984248"/>
            <a:ext cx="1920240" cy="475488"/>
          </a:xfrm>
          <a:prstGeom prst="rect">
            <a:avLst/>
          </a:prstGeom>
          <a:solidFill>
            <a:srgbClr val="FDECE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Margin filter</a:t>
            </a:r>
            <a:endParaRPr lang="en-US" sz="910" dirty="0"/>
          </a:p>
        </p:txBody>
      </p:sp>
      <p:sp>
        <p:nvSpPr>
          <p:cNvPr id="10" name="Text 8"/>
          <p:cNvSpPr/>
          <p:nvPr/>
        </p:nvSpPr>
        <p:spPr>
          <a:xfrm>
            <a:off x="2743200" y="1984248"/>
            <a:ext cx="4114800" cy="475488"/>
          </a:xfrm>
          <a:prstGeom prst="rect">
            <a:avLst/>
          </a:prstGeom>
          <a:solidFill>
            <a:srgbClr val="FDECE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Discarded many usable pairs and added complexity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822960" y="2459736"/>
            <a:ext cx="1920240" cy="475488"/>
          </a:xfrm>
          <a:prstGeom prst="rect">
            <a:avLst/>
          </a:prstGeom>
          <a:solidFill>
            <a:srgbClr val="FDECE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DPO fine-tuning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2743200" y="2459736"/>
            <a:ext cx="4114800" cy="475488"/>
          </a:xfrm>
          <a:prstGeom prst="rect">
            <a:avLst/>
          </a:prstGeom>
          <a:solidFill>
            <a:srgbClr val="FDECE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Not needed for the core RM comparison at this stage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7315200" y="1024128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focus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1508760"/>
            <a:ext cx="3886200" cy="2240280"/>
          </a:xfrm>
          <a:prstGeom prst="rect">
            <a:avLst/>
          </a:prstGeom>
          <a:solidFill>
            <a:srgbClr val="EAF2FB"/>
          </a:solidFill>
          <a:ln w="7620">
            <a:solidFill>
              <a:srgbClr val="AFCB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Simplified question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Which preference signal is more learnable by a Bradley-Terry reward model?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Holistic full-summary scoring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vs.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Sentence-level GCA scoring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9875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thesis comparison is now cleaner.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experiment uses all generated pairs instead of filtering near-ties.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main output is pairwise validation accuracy of RM-Holistic vs RM-GCA.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before: 2 June version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5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8229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complex version: margin filtering + DPO included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1554480" cy="50292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0160">
            <a:solidFill>
              <a:srgbClr val="D7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371600"/>
            <a:ext cx="144475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1. Data loader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212848" y="14630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920240" cy="50292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0160">
            <a:solidFill>
              <a:srgbClr val="D7DC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371600"/>
            <a:ext cx="18105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2. Candidate generation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553712" y="14630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325880"/>
            <a:ext cx="1737360" cy="50292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0160">
            <a:solidFill>
              <a:srgbClr val="D7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6904" y="1371600"/>
            <a:ext cx="16276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3. Candidate pairing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532120" y="1901952"/>
            <a:ext cx="2286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1901952"/>
            <a:ext cx="2286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B4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Holistic path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94360" y="2450592"/>
            <a:ext cx="2057400" cy="5486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0160">
            <a:solidFill>
              <a:srgbClr val="AFCB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496312"/>
            <a:ext cx="19476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4A. Full-summary scoring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2724912" y="25877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2450592"/>
            <a:ext cx="1874520" cy="54864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0160">
            <a:solidFill>
              <a:srgbClr val="E3A4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72384" y="2496312"/>
            <a:ext cx="176479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5A. Margin filter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74336" y="25877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57800" y="2450592"/>
            <a:ext cx="1600200" cy="548640"/>
          </a:xfrm>
          <a:prstGeom prst="roundRect">
            <a:avLst>
              <a:gd name="adj" fmla="val 6667"/>
            </a:avLst>
          </a:prstGeom>
          <a:solidFill>
            <a:srgbClr val="F1EEFF"/>
          </a:solidFill>
          <a:ln w="10160">
            <a:solidFill>
              <a:srgbClr val="CFC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12664" y="2496312"/>
            <a:ext cx="14904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8A. RM training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6931152" y="25877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23760" y="2450592"/>
            <a:ext cx="1143000" cy="54864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0160">
            <a:solidFill>
              <a:srgbClr val="E3A4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2496312"/>
            <a:ext cx="10332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9A. DPO-H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640080" y="3401568"/>
            <a:ext cx="2286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47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GCA path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94360" y="3703320"/>
            <a:ext cx="1828800" cy="548640"/>
          </a:xfrm>
          <a:prstGeom prst="roundRect">
            <a:avLst>
              <a:gd name="adj" fmla="val 6667"/>
            </a:avLst>
          </a:prstGeom>
          <a:solidFill>
            <a:srgbClr val="EAF6EF"/>
          </a:solidFill>
          <a:ln w="10160">
            <a:solidFill>
              <a:srgbClr val="B8DA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3749040"/>
            <a:ext cx="1719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4B. Sentence segmentation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2496312" y="38404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88920" y="3703320"/>
            <a:ext cx="1783080" cy="548640"/>
          </a:xfrm>
          <a:prstGeom prst="roundRect">
            <a:avLst>
              <a:gd name="adj" fmla="val 6667"/>
            </a:avLst>
          </a:prstGeom>
          <a:solidFill>
            <a:srgbClr val="EAF6EF"/>
          </a:solidFill>
          <a:ln w="10160">
            <a:solidFill>
              <a:srgbClr val="B8DA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43784" y="3749040"/>
            <a:ext cx="16733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5B. Sentence scoring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645152" y="38404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37760" y="3703320"/>
            <a:ext cx="1783080" cy="548640"/>
          </a:xfrm>
          <a:prstGeom prst="roundRect">
            <a:avLst>
              <a:gd name="adj" fmla="val 6667"/>
            </a:avLst>
          </a:prstGeom>
          <a:solidFill>
            <a:srgbClr val="EAF6EF"/>
          </a:solidFill>
          <a:ln w="10160">
            <a:solidFill>
              <a:srgbClr val="B8DA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3749040"/>
            <a:ext cx="16733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6B. GCA aggregation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793992" y="38404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86600" y="3703320"/>
            <a:ext cx="1554480" cy="54864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0160">
            <a:solidFill>
              <a:srgbClr val="E3A4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41464" y="3749040"/>
            <a:ext cx="14447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7B. Margin filter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8714232" y="38404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006840" y="3703320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F1EEFF"/>
          </a:solidFill>
          <a:ln w="10160">
            <a:solidFill>
              <a:srgbClr val="CFC5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61704" y="3749040"/>
            <a:ext cx="130759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2747"/>
                </a:solidFill>
              </a:rPr>
              <a:t>8B. RM training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10488168" y="38404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744200" y="3703320"/>
            <a:ext cx="960120" cy="54864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0160">
            <a:solidFill>
              <a:srgbClr val="E3A4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99064" y="3749040"/>
            <a:ext cx="85039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2747"/>
                </a:solidFill>
              </a:rPr>
              <a:t>9B. DPO-GCA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920240" y="5166360"/>
            <a:ext cx="8412480" cy="676656"/>
          </a:xfrm>
          <a:prstGeom prst="rect">
            <a:avLst/>
          </a:prstGeom>
          <a:solidFill>
            <a:srgbClr val="FFF4D6"/>
          </a:solidFill>
          <a:ln w="7620">
            <a:solidFill>
              <a:srgbClr val="DFC97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</a:rPr>
              <a:t>Why changed?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</a:rPr>
              <a:t>Margin filtering removed many pairs. DPO made the update harder to interpret. The new version focuses on RM learnability only.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architecture: 23 June version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6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8229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version: no margin filter, no DPO, RM comparison only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10795">
            <a:solidFill>
              <a:srgbClr val="D7DC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371600"/>
            <a:ext cx="256032" cy="256032"/>
          </a:xfrm>
          <a:prstGeom prst="ellipse">
            <a:avLst/>
          </a:prstGeom>
          <a:solidFill>
            <a:srgbClr val="0F2747"/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9446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950976" y="1371600"/>
            <a:ext cx="1399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F2747"/>
                </a:solidFill>
              </a:rPr>
              <a:t>Data Loader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658368" y="1636776"/>
            <a:ext cx="165506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22222"/>
                </a:solidFill>
              </a:rPr>
              <a:t>CNN/DailyMail articles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222222"/>
                </a:solidFill>
              </a:rPr>
              <a:t>n=1000, seed=200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2487168" y="149961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1298448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10795">
            <a:solidFill>
              <a:srgbClr val="D7DC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7792" y="1371600"/>
            <a:ext cx="256032" cy="256032"/>
          </a:xfrm>
          <a:prstGeom prst="ellipse">
            <a:avLst/>
          </a:prstGeom>
          <a:solidFill>
            <a:srgbClr val="0F2747"/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139446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236976" y="1371600"/>
            <a:ext cx="18105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2747"/>
                </a:solidFill>
              </a:rPr>
              <a:t>Candidate Generation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2944368" y="1636776"/>
            <a:ext cx="206654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222222"/>
                </a:solidFill>
              </a:rPr>
              <a:t>Mistral-7B-Instruct-v0.3</a:t>
            </a:r>
            <a:endParaRPr lang="en-US" sz="710" dirty="0"/>
          </a:p>
          <a:p>
            <a:pPr algn="ctr" indent="0" marL="0">
              <a:buNone/>
            </a:pPr>
            <a:r>
              <a:rPr lang="en-US" sz="710" dirty="0">
                <a:solidFill>
                  <a:srgbClr val="222222"/>
                </a:solidFill>
              </a:rPr>
              <a:t>A: low-temp, B: high-temp</a:t>
            </a:r>
            <a:endParaRPr lang="en-US" sz="710" dirty="0"/>
          </a:p>
        </p:txBody>
      </p:sp>
      <p:sp>
        <p:nvSpPr>
          <p:cNvPr id="18" name="Text 16"/>
          <p:cNvSpPr/>
          <p:nvPr/>
        </p:nvSpPr>
        <p:spPr>
          <a:xfrm>
            <a:off x="5193792" y="149961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32120" y="1298448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10795">
            <a:solidFill>
              <a:srgbClr val="D7D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05272" y="1371600"/>
            <a:ext cx="256032" cy="256032"/>
          </a:xfrm>
          <a:prstGeom prst="ellipse">
            <a:avLst/>
          </a:prstGeom>
          <a:solidFill>
            <a:srgbClr val="0F2747"/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5272" y="139446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934456" y="1371600"/>
            <a:ext cx="1536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F2747"/>
                </a:solidFill>
              </a:rPr>
              <a:t>Candidate Pairing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5641848" y="1636776"/>
            <a:ext cx="179222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22222"/>
                </a:solidFill>
              </a:rPr>
              <a:t>Paired summaries (A, B)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6263640" y="2084832"/>
            <a:ext cx="228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2084832"/>
            <a:ext cx="228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B4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Holistic path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48640" y="2633472"/>
            <a:ext cx="2834640" cy="749808"/>
          </a:xfrm>
          <a:prstGeom prst="roundRect">
            <a:avLst>
              <a:gd name="adj" fmla="val 7317"/>
            </a:avLst>
          </a:prstGeom>
          <a:solidFill>
            <a:srgbClr val="EAF2FB"/>
          </a:solidFill>
          <a:ln w="10795">
            <a:solidFill>
              <a:srgbClr val="AFCB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2706624"/>
            <a:ext cx="256032" cy="256032"/>
          </a:xfrm>
          <a:prstGeom prst="ellipse">
            <a:avLst/>
          </a:prstGeom>
          <a:solidFill>
            <a:srgbClr val="0F2747"/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272948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950976" y="2706624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F2747"/>
                </a:solidFill>
              </a:rPr>
              <a:t>Full-Summary Scoring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658368" y="2971800"/>
            <a:ext cx="261518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</a:rPr>
              <a:t>article + full Summary A/B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</a:rPr>
              <a:t>AlignScore → score_A, score_B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3456432" y="28437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94760" y="2633472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EAF2FB"/>
          </a:solidFill>
          <a:ln w="10795">
            <a:solidFill>
              <a:srgbClr val="AFCB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67912" y="2706624"/>
            <a:ext cx="256032" cy="256032"/>
          </a:xfrm>
          <a:prstGeom prst="ellipse">
            <a:avLst/>
          </a:prstGeom>
          <a:solidFill>
            <a:srgbClr val="0F2747"/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67912" y="272948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5A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197096" y="2706624"/>
            <a:ext cx="18105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F2747"/>
                </a:solidFill>
              </a:rPr>
              <a:t>Preference Labels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3904488" y="2971800"/>
            <a:ext cx="206654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</a:rPr>
              <a:t>higher score wins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</a:rPr>
              <a:t>all 1000 pairs used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153912" y="28437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6520" y="2633472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1EEFF"/>
          </a:solidFill>
          <a:ln w="10795">
            <a:solidFill>
              <a:srgbClr val="CFC5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9672" y="2706624"/>
            <a:ext cx="256032" cy="256032"/>
          </a:xfrm>
          <a:prstGeom prst="ellipse">
            <a:avLst/>
          </a:prstGeom>
          <a:solidFill>
            <a:srgbClr val="0F2747"/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9672" y="272948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8A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848856" y="2706624"/>
            <a:ext cx="15819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F2747"/>
                </a:solidFill>
              </a:rPr>
              <a:t>BT RM Training</a:t>
            </a:r>
            <a:endParaRPr lang="en-US" sz="770" dirty="0"/>
          </a:p>
        </p:txBody>
      </p:sp>
      <p:sp>
        <p:nvSpPr>
          <p:cNvPr id="43" name="Text 41"/>
          <p:cNvSpPr/>
          <p:nvPr/>
        </p:nvSpPr>
        <p:spPr>
          <a:xfrm>
            <a:off x="6556248" y="2971800"/>
            <a:ext cx="183794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</a:rPr>
              <a:t>input: P_hol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</a:rPr>
              <a:t>5-fold CV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594360" y="3803904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47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GCA path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548640" y="4096512"/>
            <a:ext cx="1828800" cy="530352"/>
          </a:xfrm>
          <a:prstGeom prst="roundRect">
            <a:avLst>
              <a:gd name="adj" fmla="val 6897"/>
            </a:avLst>
          </a:prstGeom>
          <a:solidFill>
            <a:srgbClr val="EAF6EF"/>
          </a:solidFill>
          <a:ln w="10160">
            <a:solidFill>
              <a:srgbClr val="B8DA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" y="4142232"/>
            <a:ext cx="17190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2747"/>
                </a:solidFill>
              </a:rPr>
              <a:t>4B. Sentence segmentation</a:t>
            </a:r>
            <a:endParaRPr lang="en-US" sz="690" dirty="0"/>
          </a:p>
        </p:txBody>
      </p:sp>
      <p:sp>
        <p:nvSpPr>
          <p:cNvPr id="47" name="Text 45"/>
          <p:cNvSpPr/>
          <p:nvPr/>
        </p:nvSpPr>
        <p:spPr>
          <a:xfrm>
            <a:off x="2432304" y="42245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697480" y="4096512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EAF6EF"/>
          </a:solidFill>
          <a:ln w="10160">
            <a:solidFill>
              <a:srgbClr val="B8DA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52344" y="4142232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2747"/>
                </a:solidFill>
              </a:rPr>
              <a:t>5B. Sentence scoring</a:t>
            </a:r>
            <a:endParaRPr lang="en-US" sz="690" dirty="0"/>
          </a:p>
        </p:txBody>
      </p:sp>
      <p:sp>
        <p:nvSpPr>
          <p:cNvPr id="50" name="Text 48"/>
          <p:cNvSpPr/>
          <p:nvPr/>
        </p:nvSpPr>
        <p:spPr>
          <a:xfrm>
            <a:off x="4498848" y="42245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754880" y="4096512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EAF6EF"/>
          </a:solidFill>
          <a:ln w="10160">
            <a:solidFill>
              <a:srgbClr val="B8DA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9744" y="4142232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2747"/>
                </a:solidFill>
              </a:rPr>
              <a:t>6B. GCA aggregation</a:t>
            </a:r>
            <a:endParaRPr lang="en-US" sz="690" dirty="0"/>
          </a:p>
        </p:txBody>
      </p:sp>
      <p:sp>
        <p:nvSpPr>
          <p:cNvPr id="53" name="Text 51"/>
          <p:cNvSpPr/>
          <p:nvPr/>
        </p:nvSpPr>
        <p:spPr>
          <a:xfrm>
            <a:off x="6547104" y="42245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812280" y="4096512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EAF6EF"/>
          </a:solidFill>
          <a:ln w="10160">
            <a:solidFill>
              <a:srgbClr val="B8DAC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67144" y="4142232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2747"/>
                </a:solidFill>
              </a:rPr>
              <a:t>7B. Preference labels</a:t>
            </a:r>
            <a:endParaRPr lang="en-US" sz="690" dirty="0"/>
          </a:p>
        </p:txBody>
      </p:sp>
      <p:sp>
        <p:nvSpPr>
          <p:cNvPr id="56" name="Text 54"/>
          <p:cNvSpPr/>
          <p:nvPr/>
        </p:nvSpPr>
        <p:spPr>
          <a:xfrm>
            <a:off x="8613648" y="42245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869680" y="4096512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1EEFF"/>
          </a:solidFill>
          <a:ln w="10160">
            <a:solidFill>
              <a:srgbClr val="CFC5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4544" y="4142232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2747"/>
                </a:solidFill>
              </a:rPr>
              <a:t>8B. BT RM training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9098280" y="2633472"/>
            <a:ext cx="2423160" cy="749808"/>
          </a:xfrm>
          <a:prstGeom prst="roundRect">
            <a:avLst>
              <a:gd name="adj" fmla="val 7317"/>
            </a:avLst>
          </a:prstGeom>
          <a:solidFill>
            <a:srgbClr val="FFF4D6"/>
          </a:solidFill>
          <a:ln w="10795">
            <a:solidFill>
              <a:srgbClr val="DFC97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71432" y="2706624"/>
            <a:ext cx="256032" cy="256032"/>
          </a:xfrm>
          <a:prstGeom prst="ellipse">
            <a:avLst/>
          </a:prstGeom>
          <a:solidFill>
            <a:srgbClr val="0F2747"/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71432" y="272948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9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9500616" y="2706624"/>
            <a:ext cx="19476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F2747"/>
                </a:solidFill>
              </a:rPr>
              <a:t>Evaluation and Comparison</a:t>
            </a:r>
            <a:endParaRPr lang="en-US" sz="760" dirty="0"/>
          </a:p>
        </p:txBody>
      </p:sp>
      <p:sp>
        <p:nvSpPr>
          <p:cNvPr id="63" name="Text 61"/>
          <p:cNvSpPr/>
          <p:nvPr/>
        </p:nvSpPr>
        <p:spPr>
          <a:xfrm>
            <a:off x="9208008" y="2971800"/>
            <a:ext cx="220370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222222"/>
                </a:solidFill>
              </a:rPr>
              <a:t>pairwise validation accuracy</a:t>
            </a:r>
            <a:endParaRPr lang="en-US" sz="710" dirty="0"/>
          </a:p>
          <a:p>
            <a:pPr algn="ctr" indent="0" marL="0">
              <a:buNone/>
            </a:pPr>
            <a:r>
              <a:rPr lang="en-US" sz="710" dirty="0">
                <a:solidFill>
                  <a:srgbClr val="222222"/>
                </a:solidFill>
              </a:rPr>
              <a:t>RM-Holistic vs RM-GCA</a:t>
            </a:r>
            <a:endParaRPr lang="en-US" sz="710" dirty="0"/>
          </a:p>
        </p:txBody>
      </p:sp>
      <p:sp>
        <p:nvSpPr>
          <p:cNvPr id="64" name="Text 62"/>
          <p:cNvSpPr/>
          <p:nvPr/>
        </p:nvSpPr>
        <p:spPr>
          <a:xfrm>
            <a:off x="8549640" y="28437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9738360" y="4645152"/>
            <a:ext cx="0" cy="-1216152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9601200" y="3246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Step-by-step validation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7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4114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Removing the margin filter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508760" cy="393192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Condition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2286000" y="1508760"/>
            <a:ext cx="1280160" cy="393192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margin=0.05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1143000" cy="393192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margin=0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4709160" y="1508760"/>
            <a:ext cx="1143000" cy="393192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Recovered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77240" y="1901952"/>
            <a:ext cx="15087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Holistic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286000" y="1901952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154/200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566160" y="1901952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200/200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4709160" y="1901952"/>
            <a:ext cx="1143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+46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777240" y="2295144"/>
            <a:ext cx="1508760" cy="393192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GCA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2286000" y="2295144"/>
            <a:ext cx="1280160" cy="393192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157/200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566160" y="2295144"/>
            <a:ext cx="1143000" cy="393192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200/200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4709160" y="2295144"/>
            <a:ext cx="1143000" cy="393192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+43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400800" y="1078992"/>
            <a:ext cx="4114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Candidate quality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508760"/>
            <a:ext cx="1737360" cy="393192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Metric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8138160" y="1508760"/>
            <a:ext cx="1325880" cy="393192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A low-temp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9464040" y="1508760"/>
            <a:ext cx="1325880" cy="393192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B high-temp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6400800" y="1901952"/>
            <a:ext cx="17373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Mean AlignScore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8138160" y="1901952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0.733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9464040" y="1901952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0.653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6400800" y="2295144"/>
            <a:ext cx="1737360" cy="393192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Mean GCA score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8138160" y="2295144"/>
            <a:ext cx="1325880" cy="393192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0.407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9464040" y="2295144"/>
            <a:ext cx="1325880" cy="393192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222"/>
                </a:solidFill>
              </a:rPr>
              <a:t>0.334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960120" y="3703320"/>
            <a:ext cx="100584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With margin=0, every generated pair becomes usable for training.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Summary A is more factual on average than Summary B, so the candidate-generation setup is valid.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validation was done before launching the larger 1000-sample experiment.</a:t>
            </a:r>
            <a:endParaRPr lang="en-US" sz="11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experiment submitted and completed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8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1920240" cy="356616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Parameter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2697480" y="1097280"/>
            <a:ext cx="4297680" cy="356616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Value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777240" y="1453896"/>
            <a:ext cx="19202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Dataset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2697480" y="1453896"/>
            <a:ext cx="429768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CNN/DailyMail test split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777240" y="1810512"/>
            <a:ext cx="192024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Sample size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697480" y="1810512"/>
            <a:ext cx="429768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1000 articles, seed=200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777240" y="2167128"/>
            <a:ext cx="19202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Margin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697480" y="2167128"/>
            <a:ext cx="429768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0; all pairs used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777240" y="2523744"/>
            <a:ext cx="192024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DPO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2697480" y="2523744"/>
            <a:ext cx="429768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removed from main comparison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77240" y="2880360"/>
            <a:ext cx="19202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Backbone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2697480" y="2880360"/>
            <a:ext cx="429768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FacebookAI/roberta-base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777240" y="3236976"/>
            <a:ext cx="192024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Training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2697480" y="3236976"/>
            <a:ext cx="429768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22222"/>
                </a:solidFill>
              </a:rPr>
              <a:t>5-fold CV, 5 epochs, lr=2e-5, batch=8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7360920" y="1097280"/>
            <a:ext cx="3383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60920" y="1508760"/>
            <a:ext cx="1645920" cy="393192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Job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006840" y="1508760"/>
            <a:ext cx="1920240" cy="393192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360920" y="1901952"/>
            <a:ext cx="1645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22222"/>
                </a:solidFill>
              </a:rPr>
              <a:t>gen_1000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006840" y="1901952"/>
            <a:ext cx="19202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22222"/>
                </a:solidFill>
              </a:rPr>
              <a:t>completed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360920" y="2295144"/>
            <a:ext cx="1645920" cy="393192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22222"/>
                </a:solidFill>
              </a:rPr>
              <a:t>prefs_1000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006840" y="2295144"/>
            <a:ext cx="1920240" cy="393192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22222"/>
                </a:solidFill>
              </a:rPr>
              <a:t>completed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360920" y="2688336"/>
            <a:ext cx="1645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22222"/>
                </a:solidFill>
              </a:rPr>
              <a:t>train_rm_1000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006840" y="2688336"/>
            <a:ext cx="19202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22222"/>
                </a:solidFill>
              </a:rPr>
              <a:t>completed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040880" y="3429000"/>
            <a:ext cx="4114800" cy="1115568"/>
          </a:xfrm>
          <a:prstGeom prst="rect">
            <a:avLst/>
          </a:prstGeom>
          <a:solidFill>
            <a:srgbClr val="F7F8FA"/>
          </a:solidFill>
          <a:ln w="7620">
            <a:solidFill>
              <a:srgbClr val="D7DC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Practical note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The jobs were run as a dependency chain. Filename-suffix and AlignScore runtime issues were fixed and rerun successfully.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Reward-model results so far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9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2743200" cy="457200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Run setting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3520440" y="1143000"/>
            <a:ext cx="1554480" cy="457200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Holistic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5074920" y="1143000"/>
            <a:ext cx="1554480" cy="457200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GCA</a:t>
            </a:r>
            <a:endParaRPr lang="en-US" sz="910" dirty="0"/>
          </a:p>
        </p:txBody>
      </p:sp>
      <p:sp>
        <p:nvSpPr>
          <p:cNvPr id="9" name="Text 7"/>
          <p:cNvSpPr/>
          <p:nvPr/>
        </p:nvSpPr>
        <p:spPr>
          <a:xfrm>
            <a:off x="6629400" y="1143000"/>
            <a:ext cx="1280160" cy="457200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Gap</a:t>
            </a:r>
            <a:endParaRPr lang="en-US" sz="910" dirty="0"/>
          </a:p>
        </p:txBody>
      </p:sp>
      <p:sp>
        <p:nvSpPr>
          <p:cNvPr id="10" name="Text 8"/>
          <p:cNvSpPr/>
          <p:nvPr/>
        </p:nvSpPr>
        <p:spPr>
          <a:xfrm>
            <a:off x="777240" y="1600200"/>
            <a:ext cx="27432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19 May run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3520440" y="1600200"/>
            <a:ext cx="15544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0.581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5074920" y="1600200"/>
            <a:ext cx="15544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0.546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6629400" y="1600200"/>
            <a:ext cx="1280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H +0.035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777240" y="2057400"/>
            <a:ext cx="2743200" cy="457200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1000-sample run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3520440" y="2057400"/>
            <a:ext cx="1554480" cy="457200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0.572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5074920" y="2057400"/>
            <a:ext cx="1554480" cy="457200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0.560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6629400" y="2057400"/>
            <a:ext cx="1280160" cy="457200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H +0.012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777240" y="2514600"/>
            <a:ext cx="27432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alpha=0.0 validation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3520440" y="2514600"/>
            <a:ext cx="15544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0.586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5074920" y="2514600"/>
            <a:ext cx="15544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0.561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6629400" y="2514600"/>
            <a:ext cx="128016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H +0.025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8138160" y="1143000"/>
            <a:ext cx="2834640" cy="1234440"/>
          </a:xfrm>
          <a:prstGeom prst="rect">
            <a:avLst/>
          </a:prstGeom>
          <a:solidFill>
            <a:srgbClr val="EAF2FB"/>
          </a:solidFill>
          <a:ln w="7620">
            <a:solidFill>
              <a:srgbClr val="AFCB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Main reading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Scaling reduced the gap in the standard run, but holistic is still slightly stronger under the basic setting.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3840480"/>
            <a:ext cx="101498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Both reward models stay above random accuracy, so both preference signals are learnable.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GCA is competitive, but not yet robustly better under the standard setup.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next question became: is the gap caused by aggregation, training sensitivity, or the AlignScore backend mode?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Optimization and stability checks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10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822960" y="1033272"/>
            <a:ext cx="4206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 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46634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 configs launched: LR × epochs.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Best observed GCA result: lr=1e-5, epochs=7, GCA=0.586.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Confirmation rerun did not reproduce the uplift.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37960" y="1033272"/>
            <a:ext cx="4206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mode sweep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1508760"/>
            <a:ext cx="1234440" cy="356616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Mode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7772400" y="1508760"/>
            <a:ext cx="1143000" cy="356616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Holistic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8915400" y="1508760"/>
            <a:ext cx="1143000" cy="356616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GCA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0058400" y="1508760"/>
            <a:ext cx="1143000" cy="356616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GCA-H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6537960" y="1865376"/>
            <a:ext cx="1234440" cy="356616"/>
          </a:xfrm>
          <a:prstGeom prst="rect">
            <a:avLst/>
          </a:prstGeom>
          <a:solidFill>
            <a:srgbClr val="EAF6E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nli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772400" y="1865376"/>
            <a:ext cx="1143000" cy="356616"/>
          </a:xfrm>
          <a:prstGeom prst="rect">
            <a:avLst/>
          </a:prstGeom>
          <a:solidFill>
            <a:srgbClr val="EAF6E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0.523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8915400" y="1865376"/>
            <a:ext cx="1143000" cy="356616"/>
          </a:xfrm>
          <a:prstGeom prst="rect">
            <a:avLst/>
          </a:prstGeom>
          <a:solidFill>
            <a:srgbClr val="EAF6E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0.583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10058400" y="1865376"/>
            <a:ext cx="1143000" cy="356616"/>
          </a:xfrm>
          <a:prstGeom prst="rect">
            <a:avLst/>
          </a:prstGeom>
          <a:solidFill>
            <a:srgbClr val="EAF6E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+0.060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537960" y="2221992"/>
            <a:ext cx="123444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bin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772400" y="2221992"/>
            <a:ext cx="114300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0.510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8915400" y="2221992"/>
            <a:ext cx="114300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0.564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10058400" y="2221992"/>
            <a:ext cx="114300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+0.054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537960" y="2578608"/>
            <a:ext cx="123444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bin_sp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772400" y="2578608"/>
            <a:ext cx="114300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0.554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8915400" y="2578608"/>
            <a:ext cx="114300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0.562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10058400" y="2578608"/>
            <a:ext cx="1143000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+0.008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6537960" y="2935224"/>
            <a:ext cx="123444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nli_sp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772400" y="2935224"/>
            <a:ext cx="114300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0.578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8915400" y="2935224"/>
            <a:ext cx="114300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0.557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0058400" y="2935224"/>
            <a:ext cx="1143000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-0.021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1143000" y="4526280"/>
            <a:ext cx="9601200" cy="822960"/>
          </a:xfrm>
          <a:prstGeom prst="rect">
            <a:avLst/>
          </a:prstGeom>
          <a:solidFill>
            <a:srgbClr val="FFF4D6"/>
          </a:solidFill>
          <a:ln w="7620">
            <a:solidFill>
              <a:srgbClr val="DFC97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</a:rPr>
              <a:t>Important point</a:t>
            </a:r>
            <a:endParaRPr lang="en-US" sz="970" dirty="0"/>
          </a:p>
          <a:p>
            <a:pPr algn="l" indent="0" marL="0">
              <a:buNone/>
            </a:pP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</a:rPr>
              <a:t>The hyperparameter uplift looked promising but was not stable. The backend mode is a more meaningful source of variation.</a:t>
            </a:r>
            <a:endParaRPr lang="en-US" sz="9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best evidence: nli mode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11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2468880" cy="475488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Run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3246120" y="1143000"/>
            <a:ext cx="1371600" cy="475488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Holistic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4617720" y="1143000"/>
            <a:ext cx="1371600" cy="475488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GCA</a:t>
            </a:r>
            <a:endParaRPr lang="en-US" sz="910" dirty="0"/>
          </a:p>
        </p:txBody>
      </p:sp>
      <p:sp>
        <p:nvSpPr>
          <p:cNvPr id="9" name="Text 7"/>
          <p:cNvSpPr/>
          <p:nvPr/>
        </p:nvSpPr>
        <p:spPr>
          <a:xfrm>
            <a:off x="5989320" y="1143000"/>
            <a:ext cx="1371600" cy="475488"/>
          </a:xfrm>
          <a:prstGeom prst="rect">
            <a:avLst/>
          </a:prstGeom>
          <a:solidFill>
            <a:srgbClr val="0F2747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GCA-H</a:t>
            </a:r>
            <a:endParaRPr lang="en-US" sz="910" dirty="0"/>
          </a:p>
        </p:txBody>
      </p:sp>
      <p:sp>
        <p:nvSpPr>
          <p:cNvPr id="10" name="Text 8"/>
          <p:cNvSpPr/>
          <p:nvPr/>
        </p:nvSpPr>
        <p:spPr>
          <a:xfrm>
            <a:off x="777240" y="1618488"/>
            <a:ext cx="24688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Original nli sweep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3246120" y="1618488"/>
            <a:ext cx="13716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0.523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4617720" y="1618488"/>
            <a:ext cx="13716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0.583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5989320" y="1618488"/>
            <a:ext cx="13716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+0.060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777240" y="2093976"/>
            <a:ext cx="2468880" cy="475488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Confirmation rerun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3246120" y="2093976"/>
            <a:ext cx="1371600" cy="475488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0.543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4617720" y="2093976"/>
            <a:ext cx="1371600" cy="475488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0.556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5989320" y="2093976"/>
            <a:ext cx="1371600" cy="475488"/>
          </a:xfrm>
          <a:prstGeom prst="rect">
            <a:avLst/>
          </a:prstGeom>
          <a:solidFill>
            <a:srgbClr val="F8FAFC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+0.013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777240" y="2569464"/>
            <a:ext cx="2468880" cy="475488"/>
          </a:xfrm>
          <a:prstGeom prst="rect">
            <a:avLst/>
          </a:prstGeom>
          <a:solidFill>
            <a:srgbClr val="EAF6E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Mean of both runs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3246120" y="2569464"/>
            <a:ext cx="1371600" cy="475488"/>
          </a:xfrm>
          <a:prstGeom prst="rect">
            <a:avLst/>
          </a:prstGeom>
          <a:solidFill>
            <a:srgbClr val="EAF6E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0.533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4617720" y="2569464"/>
            <a:ext cx="1371600" cy="475488"/>
          </a:xfrm>
          <a:prstGeom prst="rect">
            <a:avLst/>
          </a:prstGeom>
          <a:solidFill>
            <a:srgbClr val="EAF6E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0.570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5989320" y="2569464"/>
            <a:ext cx="1371600" cy="475488"/>
          </a:xfrm>
          <a:prstGeom prst="rect">
            <a:avLst/>
          </a:prstGeom>
          <a:solidFill>
            <a:srgbClr val="EAF6EF"/>
          </a:solidFill>
          <a:ln w="5715">
            <a:solidFill>
              <a:srgbClr val="D7DC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22222"/>
                </a:solidFill>
              </a:rPr>
              <a:t>+0.037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7955280" y="1143000"/>
            <a:ext cx="3063240" cy="1508760"/>
          </a:xfrm>
          <a:prstGeom prst="rect">
            <a:avLst/>
          </a:prstGeom>
          <a:solidFill>
            <a:srgbClr val="EAF6EF"/>
          </a:solidFill>
          <a:ln w="7620">
            <a:solidFill>
              <a:srgbClr val="B8DA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22222"/>
                </a:solidFill>
              </a:rPr>
              <a:t>Bootstrap result</a:t>
            </a:r>
            <a:endParaRPr lang="en-US" sz="930" dirty="0"/>
          </a:p>
          <a:p>
            <a:pPr algn="l" indent="0" marL="0">
              <a:buNone/>
            </a:pP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22222"/>
                </a:solidFill>
              </a:rPr>
              <a:t>Combined nli runs: mean GCA advantage ≈ +0.034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22222"/>
                </a:solidFill>
              </a:rPr>
              <a:t>95% CI: [+0.003, +0.064]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22222"/>
                </a:solidFill>
              </a:rPr>
              <a:t>Wilcoxon p = 0.084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914400" y="3794760"/>
            <a:ext cx="99669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nli backend gives the clearest GCA advantage so far.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confirmation run is positive but weaker, so variance is still an issue.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is not enough yet to claim a stable GCA win without further seeds.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 and next steps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0352" y="768096"/>
            <a:ext cx="111099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Master Thesis Progress Update · 23 June 2026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1320272" y="6547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08080"/>
                </a:solidFill>
              </a:rPr>
              <a:t>12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4206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interpretation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49377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simplified RM-only pipeline is now running end-to-end.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Holistic remains strong in the standard setting.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GCA can become competitive or better under some judge modes, especially nli.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main open issue is robustness across seeds and folds.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6400800" y="105156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 for discussion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481328"/>
            <a:ext cx="475488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1–2 additional seeds for nli mode.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 whether the GCA advantage remains positive across independent samples.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Decide whether current evidence is sufficient for the thesis direction.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not stable, discuss whether to present GCA as a useful but variance-sensitive signal.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2377440" y="4800600"/>
            <a:ext cx="7406640" cy="749808"/>
          </a:xfrm>
          <a:prstGeom prst="rect">
            <a:avLst/>
          </a:prstGeom>
          <a:solidFill>
            <a:srgbClr val="EAF2FB"/>
          </a:solidFill>
          <a:ln w="7620">
            <a:solidFill>
              <a:srgbClr val="AFCB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Meeting question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Should I continue validating the nli mode with more seeds, or freeze the current experiment and focus on thesis writing and analysis?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University of Koblenz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 Progress Update - 23 June 2026</dc:title>
  <dc:subject>Master thesis progress meeting</dc:subject>
  <dc:creator>Muhammad Hasnat</dc:creator>
  <cp:lastModifiedBy>Muhammad Hasnat</cp:lastModifiedBy>
  <cp:revision>1</cp:revision>
  <dcterms:created xsi:type="dcterms:W3CDTF">2026-06-23T12:47:03Z</dcterms:created>
  <dcterms:modified xsi:type="dcterms:W3CDTF">2026-06-23T12:47:03Z</dcterms:modified>
</cp:coreProperties>
</file>
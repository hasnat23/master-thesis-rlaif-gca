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745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Thesis Progress Update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143000" y="260604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RLAIF Reliability Benchmarking and Granular Credit Assignment for Factual Summarization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703320"/>
            <a:ext cx="9235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Muhammad Hasnat · Meeting presentation · 02 June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structure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11155680" cy="0"/>
          </a:xfrm>
          <a:prstGeom prst="line">
            <a:avLst/>
          </a:prstGeom>
          <a:noFill/>
          <a:ln w="12700">
            <a:solidFill>
              <a:srgbClr val="B7B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80160" y="1417320"/>
            <a:ext cx="9601200" cy="3657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Recap of last meeting
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Short introduction: motivation and method
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Architecture overview
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Progress and current results
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Difficulties and next steps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" y="6492240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Thesis Progress Update · 02 June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of the previous meeting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11155680" cy="0"/>
          </a:xfrm>
          <a:prstGeom prst="line">
            <a:avLst/>
          </a:prstGeom>
          <a:noFill/>
          <a:ln w="12700">
            <a:solidFill>
              <a:srgbClr val="B7B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143000"/>
            <a:ext cx="10698480" cy="4480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Move away from open-ended LLM judging as the main preference source.
</a:t>
            </a:r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 a fixed factuality / reward-model scorer instead.
</a:t>
            </a:r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Keep the original comparison: holistic feedback vs sentence-level feedback with GCA.
</a:t>
            </a:r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Train reward models and keep DPO as downstream validation.
</a:t>
            </a:r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Report results honestly, including cases where GCA does not outperform holistic.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6492240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Thesis Progress Update · 02 June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11155680" cy="0"/>
          </a:xfrm>
          <a:prstGeom prst="line">
            <a:avLst/>
          </a:prstGeom>
          <a:noFill/>
          <a:ln w="12700">
            <a:solidFill>
              <a:srgbClr val="B7B7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34440"/>
            <a:ext cx="3383280" cy="1234440"/>
          </a:xfrm>
          <a:prstGeom prst="roundRect">
            <a:avLst>
              <a:gd name="adj" fmla="val 3704"/>
            </a:avLst>
          </a:prstGeom>
          <a:solidFill>
            <a:srgbClr val="F8ECEC"/>
          </a:solidFill>
          <a:ln w="12700">
            <a:solidFill>
              <a:srgbClr val="D8B1B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307592"/>
            <a:ext cx="3236976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Summaries can be fluent but factually wrong.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34840" y="1234440"/>
            <a:ext cx="3383280" cy="1234440"/>
          </a:xfrm>
          <a:prstGeom prst="roundRect">
            <a:avLst>
              <a:gd name="adj" fmla="val 3704"/>
            </a:avLst>
          </a:prstGeom>
          <a:solidFill>
            <a:srgbClr val="EAF1F8"/>
          </a:solidFill>
          <a:ln w="12700">
            <a:solidFill>
              <a:srgbClr val="AFC4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07992" y="1307592"/>
            <a:ext cx="3236976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the whole summary at once.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138160" y="1234440"/>
            <a:ext cx="3383280" cy="1234440"/>
          </a:xfrm>
          <a:prstGeom prst="roundRect">
            <a:avLst>
              <a:gd name="adj" fmla="val 3704"/>
            </a:avLst>
          </a:prstGeom>
          <a:solidFill>
            <a:srgbClr val="EBF5EF"/>
          </a:solidFill>
          <a:ln w="12700">
            <a:solidFill>
              <a:srgbClr val="B6D7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11312" y="1307592"/>
            <a:ext cx="3236976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GCA idea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local sentences and aggregate.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0" y="1828800"/>
            <a:ext cx="320040" cy="0"/>
          </a:xfrm>
          <a:prstGeom prst="line">
            <a:avLst/>
          </a:prstGeom>
          <a:noFill/>
          <a:ln w="13970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818120" y="1828800"/>
            <a:ext cx="320040" cy="0"/>
          </a:xfrm>
          <a:prstGeom prst="line">
            <a:avLst/>
          </a:prstGeom>
          <a:noFill/>
          <a:ln w="13970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960120" y="2971800"/>
            <a:ext cx="1042416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question is not whether GCA must win.
</a:t>
            </a:r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question is whether granular feedback gives a better training signal than holistic feedback.
</a:t>
            </a:r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Current results suggest this is more difficult than expected.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" y="6492240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Thesis Progress Update · 02 June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architecture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11155680" cy="0"/>
          </a:xfrm>
          <a:prstGeom prst="line">
            <a:avLst/>
          </a:prstGeom>
          <a:noFill/>
          <a:ln w="12700">
            <a:solidFill>
              <a:srgbClr val="B7B7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960120"/>
            <a:ext cx="2377440" cy="777240"/>
          </a:xfrm>
          <a:prstGeom prst="roundRect">
            <a:avLst>
              <a:gd name="adj" fmla="val 5882"/>
            </a:avLst>
          </a:prstGeom>
          <a:solidFill>
            <a:srgbClr val="F7F8FA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033272"/>
            <a:ext cx="2231136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Data loader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CNN/DM articles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samples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91840" y="960120"/>
            <a:ext cx="2651760" cy="777240"/>
          </a:xfrm>
          <a:prstGeom prst="roundRect">
            <a:avLst>
              <a:gd name="adj" fmla="val 5882"/>
            </a:avLst>
          </a:prstGeom>
          <a:solidFill>
            <a:srgbClr val="F7F8FA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64992" y="1033272"/>
            <a:ext cx="2505456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Candidate generation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article + Mistral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summaries A, B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55080" y="960120"/>
            <a:ext cx="2286000" cy="777240"/>
          </a:xfrm>
          <a:prstGeom prst="roundRect">
            <a:avLst>
              <a:gd name="adj" fmla="val 5882"/>
            </a:avLst>
          </a:prstGeom>
          <a:solidFill>
            <a:srgbClr val="F7F8FA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28232" y="1033272"/>
            <a:ext cx="2139696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Candidate pairing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A, B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pairs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926080" y="1353312"/>
            <a:ext cx="365760" cy="0"/>
          </a:xfrm>
          <a:prstGeom prst="line">
            <a:avLst/>
          </a:prstGeom>
          <a:noFill/>
          <a:ln w="13970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943600" y="1353312"/>
            <a:ext cx="411480" cy="0"/>
          </a:xfrm>
          <a:prstGeom prst="line">
            <a:avLst/>
          </a:prstGeom>
          <a:noFill/>
          <a:ln w="13970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777240" y="2057400"/>
            <a:ext cx="29260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Holistic path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715000" y="2057400"/>
            <a:ext cx="4114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Sentence-level + GCA path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" y="2468880"/>
            <a:ext cx="3291840" cy="777240"/>
          </a:xfrm>
          <a:prstGeom prst="roundRect">
            <a:avLst>
              <a:gd name="adj" fmla="val 5882"/>
            </a:avLst>
          </a:prstGeom>
          <a:solidFill>
            <a:srgbClr val="EAF1F8"/>
          </a:solidFill>
          <a:ln w="12700">
            <a:solidFill>
              <a:srgbClr val="AFC4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2542032"/>
            <a:ext cx="3145536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4A. Full-summary scoring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article + full A/B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full scores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3520440"/>
            <a:ext cx="3291840" cy="777240"/>
          </a:xfrm>
          <a:prstGeom prst="roundRect">
            <a:avLst>
              <a:gd name="adj" fmla="val 5882"/>
            </a:avLst>
          </a:prstGeom>
          <a:solidFill>
            <a:srgbClr val="EAF1F8"/>
          </a:solidFill>
          <a:ln w="12700">
            <a:solidFill>
              <a:srgbClr val="AFC4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3593592"/>
            <a:ext cx="3145536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5A. Build P_hol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scores + margin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chosen/rejected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40280" y="3246120"/>
            <a:ext cx="0" cy="274320"/>
          </a:xfrm>
          <a:prstGeom prst="line">
            <a:avLst/>
          </a:prstGeom>
          <a:noFill/>
          <a:ln w="13970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937760" y="2468880"/>
            <a:ext cx="2240280" cy="777240"/>
          </a:xfrm>
          <a:prstGeom prst="roundRect">
            <a:avLst>
              <a:gd name="adj" fmla="val 5882"/>
            </a:avLst>
          </a:prstGeom>
          <a:solidFill>
            <a:srgbClr val="EBF5EF"/>
          </a:solidFill>
          <a:ln w="12700">
            <a:solidFill>
              <a:srgbClr val="B6D7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10912" y="2542032"/>
            <a:ext cx="2093976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4B. Sentence split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summaries A/B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sentence lists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452360" y="2468880"/>
            <a:ext cx="2331720" cy="777240"/>
          </a:xfrm>
          <a:prstGeom prst="roundRect">
            <a:avLst>
              <a:gd name="adj" fmla="val 5882"/>
            </a:avLst>
          </a:prstGeom>
          <a:solidFill>
            <a:srgbClr val="EBF5EF"/>
          </a:solidFill>
          <a:ln w="12700">
            <a:solidFill>
              <a:srgbClr val="B6D7C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25512" y="2542032"/>
            <a:ext cx="2185416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5B. Sentence scoring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article + sentence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local scores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012680" y="2468880"/>
            <a:ext cx="1920240" cy="777240"/>
          </a:xfrm>
          <a:prstGeom prst="roundRect">
            <a:avLst>
              <a:gd name="adj" fmla="val 5882"/>
            </a:avLst>
          </a:prstGeom>
          <a:solidFill>
            <a:srgbClr val="EBF5EF"/>
          </a:solidFill>
          <a:ln w="12700">
            <a:solidFill>
              <a:srgbClr val="B6D7C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85832" y="2542032"/>
            <a:ext cx="1773936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6B. GCA aggregation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local scores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GCA_A, GCA_B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635240" y="3520440"/>
            <a:ext cx="3017520" cy="777240"/>
          </a:xfrm>
          <a:prstGeom prst="roundRect">
            <a:avLst>
              <a:gd name="adj" fmla="val 5882"/>
            </a:avLst>
          </a:prstGeom>
          <a:solidFill>
            <a:srgbClr val="EBF5EF"/>
          </a:solidFill>
          <a:ln w="12700">
            <a:solidFill>
              <a:srgbClr val="B6D7C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08392" y="3593592"/>
            <a:ext cx="2871216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7B. Build P_gca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GCA scores + margin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chosen/rejected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178040" y="2852928"/>
            <a:ext cx="274320" cy="0"/>
          </a:xfrm>
          <a:prstGeom prst="line">
            <a:avLst/>
          </a:prstGeom>
          <a:noFill/>
          <a:ln w="13970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784080" y="2852928"/>
            <a:ext cx="228600" cy="0"/>
          </a:xfrm>
          <a:prstGeom prst="line">
            <a:avLst/>
          </a:prstGeom>
          <a:noFill/>
          <a:ln w="13970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927080" y="3246120"/>
            <a:ext cx="-1783080" cy="274320"/>
          </a:xfrm>
          <a:prstGeom prst="line">
            <a:avLst/>
          </a:prstGeom>
          <a:noFill/>
          <a:ln w="13970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417320" y="4800600"/>
            <a:ext cx="320040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90472" y="4873752"/>
            <a:ext cx="3054096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Reward-model training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P_hol / P_gca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RM-H, RM-GCA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4800600"/>
            <a:ext cx="320040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4873752"/>
            <a:ext cx="3054096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DPO fine-tuning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P_hol / P_gca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DPO-H, DPO-GCA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092440" y="4800600"/>
            <a:ext cx="320040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65592" y="4873752"/>
            <a:ext cx="3054096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Evaluation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Metrics: AlignScore, ROUGE, BERTScore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comparison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886200" y="4297680"/>
            <a:ext cx="-868680" cy="502920"/>
          </a:xfrm>
          <a:prstGeom prst="line">
            <a:avLst/>
          </a:prstGeom>
          <a:noFill/>
          <a:ln w="13970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144000" y="4297680"/>
            <a:ext cx="-2788920" cy="502920"/>
          </a:xfrm>
          <a:prstGeom prst="line">
            <a:avLst/>
          </a:prstGeom>
          <a:noFill/>
          <a:ln w="13970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4617720" y="5193792"/>
            <a:ext cx="137160" cy="0"/>
          </a:xfrm>
          <a:prstGeom prst="line">
            <a:avLst/>
          </a:prstGeom>
          <a:noFill/>
          <a:ln w="13970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955280" y="5193792"/>
            <a:ext cx="137160" cy="0"/>
          </a:xfrm>
          <a:prstGeom prst="line">
            <a:avLst/>
          </a:prstGeom>
          <a:noFill/>
          <a:ln w="13970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502920" y="6492240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Thesis Progress Update · 02 June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in brief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11155680" cy="0"/>
          </a:xfrm>
          <a:prstGeom prst="line">
            <a:avLst/>
          </a:prstGeom>
          <a:noFill/>
          <a:ln w="12700">
            <a:solidFill>
              <a:srgbClr val="B7B7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143000"/>
            <a:ext cx="4754880" cy="2011680"/>
          </a:xfrm>
          <a:prstGeom prst="roundRect">
            <a:avLst>
              <a:gd name="adj" fmla="val 2273"/>
            </a:avLst>
          </a:prstGeom>
          <a:solidFill>
            <a:srgbClr val="EAF1F8"/>
          </a:solidFill>
          <a:ln w="12700">
            <a:solidFill>
              <a:srgbClr val="AFC4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216152"/>
            <a:ext cx="4608576" cy="1865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Holistic preference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full summary 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full summary B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with margin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0" y="1143000"/>
            <a:ext cx="4754880" cy="2011680"/>
          </a:xfrm>
          <a:prstGeom prst="roundRect">
            <a:avLst>
              <a:gd name="adj" fmla="val 2273"/>
            </a:avLst>
          </a:prstGeom>
          <a:solidFill>
            <a:srgbClr val="EBF5EF"/>
          </a:solidFill>
          <a:ln w="12700">
            <a:solidFill>
              <a:srgbClr val="B6D7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56832" y="1216152"/>
            <a:ext cx="4608576" cy="1865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GCA preference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into sentences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each sentence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 to summary score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3886200"/>
            <a:ext cx="96012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preference is created when the score difference is too small. This avoids forcing arbitrary training pairs.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" y="6492240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Thesis Progress Update · 02 June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since last meeting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11155680" cy="0"/>
          </a:xfrm>
          <a:prstGeom prst="line">
            <a:avLst/>
          </a:prstGeom>
          <a:noFill/>
          <a:ln w="12700">
            <a:solidFill>
              <a:srgbClr val="B7B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143000"/>
            <a:ext cx="10698480" cy="4389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Candidate generation pipeline completed on MOGON.
</a:t>
            </a:r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AlignScore-based preference construction completed for holistic and GCA paths.
</a:t>
            </a:r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Bradley-Terry reward models trained for both preference datasets.
</a:t>
            </a:r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DPO adapters trained for holistic and GCA preferences.
</a:t>
            </a:r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Evaluation completed with AlignScore, ROUGE and BERTScore.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6492240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Thesis Progress Update · 02 June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result summary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11155680" cy="0"/>
          </a:xfrm>
          <a:prstGeom prst="line">
            <a:avLst/>
          </a:prstGeom>
          <a:noFill/>
          <a:ln w="12700">
            <a:solidFill>
              <a:srgbClr val="B7B7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143000"/>
            <a:ext cx="2834640" cy="530352"/>
          </a:xfrm>
          <a:prstGeom prst="roundRect">
            <a:avLst>
              <a:gd name="adj" fmla="val 8621"/>
            </a:avLst>
          </a:prstGeom>
          <a:solidFill>
            <a:srgbClr val="F2F2F2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216152"/>
            <a:ext cx="268833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0" y="1143000"/>
            <a:ext cx="2468880" cy="530352"/>
          </a:xfrm>
          <a:prstGeom prst="roundRect">
            <a:avLst>
              <a:gd name="adj" fmla="val 8621"/>
            </a:avLst>
          </a:prstGeom>
          <a:solidFill>
            <a:srgbClr val="F2F2F2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30752" y="1216152"/>
            <a:ext cx="232257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result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26480" y="1143000"/>
            <a:ext cx="2743200" cy="530352"/>
          </a:xfrm>
          <a:prstGeom prst="roundRect">
            <a:avLst>
              <a:gd name="adj" fmla="val 8621"/>
            </a:avLst>
          </a:prstGeom>
          <a:solidFill>
            <a:srgbClr val="F2F2F2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99632" y="1216152"/>
            <a:ext cx="259689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observation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869680" y="1143000"/>
            <a:ext cx="2743200" cy="530352"/>
          </a:xfrm>
          <a:prstGeom prst="roundRect">
            <a:avLst>
              <a:gd name="adj" fmla="val 8621"/>
            </a:avLst>
          </a:prstGeom>
          <a:solidFill>
            <a:srgbClr val="F2F2F2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42832" y="1216152"/>
            <a:ext cx="259689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" y="1673352"/>
            <a:ext cx="283464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1746504"/>
            <a:ext cx="268833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Factuality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0" y="1673352"/>
            <a:ext cx="246888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30752" y="1746504"/>
            <a:ext cx="232257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Holistic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26480" y="1673352"/>
            <a:ext cx="274320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9632" y="1746504"/>
            <a:ext cx="259689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AlignScore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869680" y="1673352"/>
            <a:ext cx="274320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42832" y="1746504"/>
            <a:ext cx="259689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GCA does not beat holistic yet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22960" y="2203704"/>
            <a:ext cx="283464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2276856"/>
            <a:ext cx="268833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/ overlap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0" y="2203704"/>
            <a:ext cx="246888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30752" y="2276856"/>
            <a:ext cx="232257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26480" y="2203704"/>
            <a:ext cx="274320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99632" y="2276856"/>
            <a:ext cx="259689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GCA changes ROUGE/BERTScore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869680" y="2203704"/>
            <a:ext cx="274320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42832" y="2276856"/>
            <a:ext cx="259689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affects generation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22960" y="2734056"/>
            <a:ext cx="283464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6112" y="2807208"/>
            <a:ext cx="268833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 model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0" y="2734056"/>
            <a:ext cx="246888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30752" y="2807208"/>
            <a:ext cx="232257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Holistic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26480" y="2734056"/>
            <a:ext cx="274320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99632" y="2807208"/>
            <a:ext cx="259689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stable training accuracy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869680" y="2734056"/>
            <a:ext cx="274320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42832" y="2807208"/>
            <a:ext cx="259689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GCA signal appears noisier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22960" y="3264408"/>
            <a:ext cx="283464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6112" y="3337560"/>
            <a:ext cx="268833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657600" y="3264408"/>
            <a:ext cx="246888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30752" y="3337560"/>
            <a:ext cx="232257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Holistic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126480" y="3264408"/>
            <a:ext cx="274320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99632" y="3337560"/>
            <a:ext cx="259689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Stronger current baseline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869680" y="3264408"/>
            <a:ext cx="274320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942832" y="3337560"/>
            <a:ext cx="259689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negative/mixed finding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914400" y="4069080"/>
            <a:ext cx="1042416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takeaway: finer feedback is not automatically better. Current GCA needs further analysis and a stricter aggregation rule.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502920" y="6492240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Thesis Progress Update · 02 June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Difficulties encountered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11155680" cy="0"/>
          </a:xfrm>
          <a:prstGeom prst="line">
            <a:avLst/>
          </a:prstGeom>
          <a:noFill/>
          <a:ln w="12700">
            <a:solidFill>
              <a:srgbClr val="B7B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143000"/>
            <a:ext cx="10698480" cy="4206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Hugging Face access on MOGON requires model whitelisting through the university proxy.
</a:t>
            </a:r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Some factuality models were blocked or difficult to access.
</a:t>
            </a:r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Simple sentence-level aggregation may hide serious low-score sentences.
</a:t>
            </a:r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GCA results are currently weaker than expected, so disagreement analysis is needed.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6492240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Thesis Progress Update · 02 June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 interpret the GCA result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11155680" cy="0"/>
          </a:xfrm>
          <a:prstGeom prst="line">
            <a:avLst/>
          </a:prstGeom>
          <a:noFill/>
          <a:ln w="12700">
            <a:solidFill>
              <a:srgbClr val="B7B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097280"/>
            <a:ext cx="10698480" cy="4389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hypothesis was that GCA may improve factuality by localizing errors.
</a:t>
            </a:r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Current results do not support that under the present setup.
</a:t>
            </a:r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This is still a valid result: it shows that local scoring can introduce noise.
</a:t>
            </a:r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Likely causes: loss of global context, aggregation design, and scorer calibration.
</a:t>
            </a:r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Next step is to test whether an improved GCA rule fixes this.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6492240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Thesis Progress Update · 02 June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11155680" cy="0"/>
          </a:xfrm>
          <a:prstGeom prst="line">
            <a:avLst/>
          </a:prstGeom>
          <a:noFill/>
          <a:ln w="12700">
            <a:solidFill>
              <a:srgbClr val="B7B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097280"/>
            <a:ext cx="10698480" cy="4389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Inspect disagreement cases: holistic chooses A, GCA chooses B, and vice versa.
</a:t>
            </a:r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Test stricter GCA aggregation: mean score plus penalty for low-faithfulness sentences.
</a:t>
            </a:r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Check whether GCA fails because of segmentation, scoring, or aggregation.
</a:t>
            </a:r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Scale evaluation where possible and report confidence intervals.
</a:t>
            </a:r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Prepare thesis discussion around mixed results rather than forced positive claims.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6492240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Thesis Progress Update · 02 June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points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11155680" cy="0"/>
          </a:xfrm>
          <a:prstGeom prst="line">
            <a:avLst/>
          </a:prstGeom>
          <a:noFill/>
          <a:ln w="12700">
            <a:solidFill>
              <a:srgbClr val="B7B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325880"/>
            <a:ext cx="1069848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Should GCA remain a main method or be framed as an ablation?
</a:t>
            </a:r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Which aggregation rule should be tested next?
</a:t>
            </a:r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Should reward-model training become the main artifact, with DPO as validation?
</a:t>
            </a:r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How much manual disagreement analysis is enough for the thesis?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6492240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Thesis Progress Update · 02 June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University of Koblenz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Meeting Presentation</dc:title>
  <dc:subject>Weekly thesis progress update</dc:subject>
  <dc:creator>Muhammad Hasnat</dc:creator>
  <cp:lastModifiedBy>Muhammad Hasnat</cp:lastModifiedBy>
  <cp:revision>1</cp:revision>
  <dcterms:created xsi:type="dcterms:W3CDTF">2026-06-02T12:44:22Z</dcterms:created>
  <dcterms:modified xsi:type="dcterms:W3CDTF">2026-06-02T12:44:22Z</dcterms:modified>
</cp:coreProperties>
</file>
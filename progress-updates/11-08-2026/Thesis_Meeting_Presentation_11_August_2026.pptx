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2E5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Benchmarking Holistic vs Sentence-Level Reward-Model</a:t>
            </a:r>
          </a:p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Preferences via Granular Credit Assignment (GCA)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23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E5B8A"/>
                </a:solidFill>
                <a:latin typeface="Calibri"/>
              </a:rPr>
              <a:t>Progress Update — 11 August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7180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5A5A5A"/>
                </a:solidFill>
                <a:latin typeface="Calibri"/>
              </a:rPr>
              <a:t>Muhammad Hasnat</a:t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5A5A5A"/>
                </a:solidFill>
                <a:latin typeface="Calibri"/>
              </a:rPr>
              <a:t>Supervisors: Prof. Dr. Frank Hopfgartner, Dr. Zeyd Boukhers   |   Mentor: Lingxiao Kong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A5A5A"/>
                </a:solidFill>
                <a:latin typeface="Calibri"/>
              </a:rPr>
              <a:t>Today: pipeline walkthrough  +  reward-model results at 3 dataset sizes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E5B8A"/>
                </a:solidFill>
                <a:latin typeface="Calibri"/>
              </a:rPr>
              <a:t>The Question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11183112" cy="27940"/>
          </a:xfrm>
          <a:prstGeom prst="rect">
            <a:avLst/>
          </a:prstGeom>
          <a:solidFill>
            <a:srgbClr val="2E5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62626"/>
                </a:solidFill>
                <a:latin typeface="Calibri"/>
              </a:rPr>
              <a:t>Does scoring a summary sentence-by-sentence give a better training</a:t>
            </a:r>
          </a:p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62626"/>
                </a:solidFill>
                <a:latin typeface="Calibri"/>
              </a:rPr>
              <a:t>signal than scoring it as a whole?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200400"/>
            <a:ext cx="4572000" cy="1371600"/>
          </a:xfrm>
          <a:prstGeom prst="roundRect">
            <a:avLst>
              <a:gd name="adj" fmla="val 9000"/>
            </a:avLst>
          </a:prstGeom>
          <a:solidFill>
            <a:srgbClr val="DBE9FB"/>
          </a:solidFill>
          <a:ln w="13970">
            <a:solidFill>
              <a:srgbClr val="4A7F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000" b="1">
                <a:solidFill>
                  <a:srgbClr val="1F4E8C"/>
                </a:solidFill>
                <a:latin typeface="Calibri"/>
              </a:rPr>
              <a:t>Holistic</a:t>
            </a:r>
          </a:p>
          <a:p>
            <a:pPr algn="ctr">
              <a:spcBef>
                <a:spcPts val="200"/>
              </a:spcBef>
            </a:pPr>
            <a:r>
              <a:rPr sz="1400" i="1">
                <a:solidFill>
                  <a:srgbClr val="5A5A5A"/>
                </a:solidFill>
                <a:latin typeface="Calibri"/>
              </a:rPr>
              <a:t>Judge reads the whole
summary → one score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3200400"/>
            <a:ext cx="4572000" cy="1371600"/>
          </a:xfrm>
          <a:prstGeom prst="roundRect">
            <a:avLst>
              <a:gd name="adj" fmla="val 9000"/>
            </a:avLst>
          </a:prstGeom>
          <a:solidFill>
            <a:srgbClr val="FDE3C7"/>
          </a:solidFill>
          <a:ln w="13970">
            <a:solidFill>
              <a:srgbClr val="D98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9C5A18"/>
                </a:solidFill>
                <a:latin typeface="Calibri"/>
              </a:rPr>
              <a:t>GCA (Granular Credit Assignment)</a:t>
            </a:r>
          </a:p>
          <a:p>
            <a:pPr algn="ctr">
              <a:spcBef>
                <a:spcPts val="200"/>
              </a:spcBef>
            </a:pPr>
            <a:r>
              <a:rPr sz="1400" i="1">
                <a:solidFill>
                  <a:srgbClr val="5A5A5A"/>
                </a:solidFill>
                <a:latin typeface="Calibri"/>
              </a:rPr>
              <a:t>Judge scores each sentence,
then we average the scores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1">
                <a:solidFill>
                  <a:srgbClr val="5A5A5A"/>
                </a:solidFill>
                <a:latin typeface="Calibri"/>
              </a:rPr>
              <a:t>Same judge. Same summaries. Same reward-model recipe.</a:t>
            </a:r>
          </a:p>
          <a:p>
            <a:pPr algn="l">
              <a:lnSpc>
                <a:spcPct val="130000"/>
              </a:lnSpc>
            </a:pPr>
            <a:r>
              <a:rPr sz="1600" b="0" i="1">
                <a:solidFill>
                  <a:srgbClr val="5A5A5A"/>
                </a:solidFill>
                <a:latin typeface="Calibri"/>
              </a:rPr>
              <a:t>The only thing that changes is how finely we look before deciding which summary is better.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196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E5B8A"/>
                </a:solidFill>
                <a:latin typeface="Calibri"/>
              </a:rPr>
              <a:t>Pipeline: What Goes In, What Comes 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11183112" cy="27940"/>
          </a:xfrm>
          <a:prstGeom prst="rect">
            <a:avLst/>
          </a:prstGeom>
          <a:solidFill>
            <a:srgbClr val="2E5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3383280" cy="777240"/>
          </a:xfrm>
          <a:prstGeom prst="roundRect">
            <a:avLst>
              <a:gd name="adj" fmla="val 9000"/>
            </a:avLst>
          </a:prstGeom>
          <a:solidFill>
            <a:srgbClr val="EEEEEE"/>
          </a:solidFill>
          <a:ln w="1397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262626"/>
                </a:solidFill>
                <a:latin typeface="Calibri"/>
              </a:rPr>
              <a:t>1. Load Data</a:t>
            </a:r>
          </a:p>
          <a:p>
            <a:pPr algn="ctr">
              <a:spcBef>
                <a:spcPts val="200"/>
              </a:spcBef>
            </a:pPr>
            <a:r>
              <a:rPr sz="950" i="1">
                <a:solidFill>
                  <a:srgbClr val="5A5A5A"/>
                </a:solidFill>
                <a:latin typeface="Calibri"/>
              </a:rPr>
              <a:t>CNN/DailyMail  →  1k / 5k / 10k articles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1051560"/>
            <a:ext cx="3383280" cy="777240"/>
          </a:xfrm>
          <a:prstGeom prst="roundRect">
            <a:avLst>
              <a:gd name="adj" fmla="val 9000"/>
            </a:avLst>
          </a:prstGeom>
          <a:solidFill>
            <a:srgbClr val="EEEEEE"/>
          </a:solidFill>
          <a:ln w="1397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262626"/>
                </a:solidFill>
                <a:latin typeface="Calibri"/>
              </a:rPr>
              <a:t>2. Generate 2 Summaries</a:t>
            </a:r>
          </a:p>
          <a:p>
            <a:pPr algn="ctr">
              <a:spcBef>
                <a:spcPts val="200"/>
              </a:spcBef>
            </a:pPr>
            <a:r>
              <a:rPr sz="950" i="1">
                <a:solidFill>
                  <a:srgbClr val="5A5A5A"/>
                </a:solidFill>
                <a:latin typeface="Calibri"/>
              </a:rPr>
              <a:t>Mistral-7B, temperature 0.7 &amp; 1.0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051560"/>
            <a:ext cx="3383280" cy="777240"/>
          </a:xfrm>
          <a:prstGeom prst="roundRect">
            <a:avLst>
              <a:gd name="adj" fmla="val 9000"/>
            </a:avLst>
          </a:prstGeom>
          <a:solidFill>
            <a:srgbClr val="EEEEEE"/>
          </a:solidFill>
          <a:ln w="1397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262626"/>
                </a:solidFill>
                <a:latin typeface="Calibri"/>
              </a:rPr>
              <a:t>3. Pair A vs B</a:t>
            </a:r>
          </a:p>
          <a:p>
            <a:pPr algn="ctr">
              <a:spcBef>
                <a:spcPts val="200"/>
              </a:spcBef>
            </a:pPr>
            <a:r>
              <a:rPr sz="950" i="1">
                <a:solidFill>
                  <a:srgbClr val="5A5A5A"/>
                </a:solidFill>
                <a:latin typeface="Calibri"/>
              </a:rPr>
              <a:t>one A/B candidate pair per article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840480" y="1440180"/>
            <a:ext cx="274320" cy="0"/>
          </a:xfrm>
          <a:prstGeom prst="line">
            <a:avLst/>
          </a:prstGeom>
          <a:ln w="17780">
            <a:solidFill>
              <a:srgbClr val="9999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498080" y="1440180"/>
            <a:ext cx="274320" cy="0"/>
          </a:xfrm>
          <a:prstGeom prst="line">
            <a:avLst/>
          </a:prstGeom>
          <a:ln w="17780">
            <a:solidFill>
              <a:srgbClr val="9999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3154680" y="1828800"/>
            <a:ext cx="6309360" cy="320040"/>
          </a:xfrm>
          <a:prstGeom prst="bentConnector3">
            <a:avLst/>
          </a:prstGeom>
          <a:ln w="17780">
            <a:solidFill>
              <a:srgbClr val="4A7F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9006840" y="1828800"/>
            <a:ext cx="457200" cy="320040"/>
          </a:xfrm>
          <a:prstGeom prst="bentConnector3">
            <a:avLst/>
          </a:prstGeom>
          <a:ln w="17780">
            <a:solidFill>
              <a:srgbClr val="D98A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22960" y="2148840"/>
            <a:ext cx="4663440" cy="749808"/>
          </a:xfrm>
          <a:prstGeom prst="roundRect">
            <a:avLst>
              <a:gd name="adj" fmla="val 9000"/>
            </a:avLst>
          </a:prstGeom>
          <a:solidFill>
            <a:srgbClr val="DBE9FB"/>
          </a:solidFill>
          <a:ln w="13970">
            <a:solidFill>
              <a:srgbClr val="4A7F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1F4E8C"/>
                </a:solidFill>
                <a:latin typeface="Calibri"/>
              </a:rPr>
              <a:t>4. Score Whole Summary  —  HOLISTIC</a:t>
            </a:r>
          </a:p>
          <a:p>
            <a:pPr algn="ctr">
              <a:spcBef>
                <a:spcPts val="200"/>
              </a:spcBef>
            </a:pPr>
            <a:r>
              <a:rPr sz="950" i="1">
                <a:solidFill>
                  <a:srgbClr val="5A5A5A"/>
                </a:solidFill>
                <a:latin typeface="Calibri"/>
              </a:rPr>
              <a:t>AlignScore reads the full text → 1 score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118104"/>
            <a:ext cx="4663440" cy="749808"/>
          </a:xfrm>
          <a:prstGeom prst="roundRect">
            <a:avLst>
              <a:gd name="adj" fmla="val 9000"/>
            </a:avLst>
          </a:prstGeom>
          <a:solidFill>
            <a:srgbClr val="DBE9FB"/>
          </a:solidFill>
          <a:ln w="13970">
            <a:solidFill>
              <a:srgbClr val="4A7F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1F4E8C"/>
                </a:solidFill>
                <a:latin typeface="Calibri"/>
              </a:rPr>
              <a:t>5. Decide Preference</a:t>
            </a:r>
          </a:p>
          <a:p>
            <a:pPr algn="ctr">
              <a:spcBef>
                <a:spcPts val="200"/>
              </a:spcBef>
            </a:pPr>
            <a:r>
              <a:rPr sz="950" i="1">
                <a:solidFill>
                  <a:srgbClr val="5A5A5A"/>
                </a:solidFill>
                <a:latin typeface="Calibri"/>
              </a:rPr>
              <a:t>higher score wins → chosen / rejected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087368"/>
            <a:ext cx="4663440" cy="749808"/>
          </a:xfrm>
          <a:prstGeom prst="roundRect">
            <a:avLst>
              <a:gd name="adj" fmla="val 9000"/>
            </a:avLst>
          </a:prstGeom>
          <a:solidFill>
            <a:srgbClr val="DBE9FB"/>
          </a:solidFill>
          <a:ln w="13970">
            <a:solidFill>
              <a:srgbClr val="4A7F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1F4E8C"/>
                </a:solidFill>
                <a:latin typeface="Calibri"/>
              </a:rPr>
              <a:t>6. Train Reward Model</a:t>
            </a:r>
          </a:p>
          <a:p>
            <a:pPr algn="ctr">
              <a:spcBef>
                <a:spcPts val="200"/>
              </a:spcBef>
            </a:pPr>
            <a:r>
              <a:rPr sz="950" i="1">
                <a:solidFill>
                  <a:srgbClr val="5A5A5A"/>
                </a:solidFill>
                <a:latin typeface="Calibri"/>
              </a:rPr>
              <a:t>holistic pairs → pairwise accuracy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54680" y="2898648"/>
            <a:ext cx="0" cy="219456"/>
          </a:xfrm>
          <a:prstGeom prst="line">
            <a:avLst/>
          </a:prstGeom>
          <a:ln w="17780">
            <a:solidFill>
              <a:srgbClr val="4A7F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154680" y="3867912"/>
            <a:ext cx="0" cy="219456"/>
          </a:xfrm>
          <a:prstGeom prst="line">
            <a:avLst/>
          </a:prstGeom>
          <a:ln w="17780">
            <a:solidFill>
              <a:srgbClr val="4A7F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675120" y="2148840"/>
            <a:ext cx="4663440" cy="749808"/>
          </a:xfrm>
          <a:prstGeom prst="roundRect">
            <a:avLst>
              <a:gd name="adj" fmla="val 9000"/>
            </a:avLst>
          </a:prstGeom>
          <a:solidFill>
            <a:srgbClr val="FDE3C7"/>
          </a:solidFill>
          <a:ln w="13970">
            <a:solidFill>
              <a:srgbClr val="D98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9C5A18"/>
                </a:solidFill>
                <a:latin typeface="Calibri"/>
              </a:rPr>
              <a:t>4. Score Each Sentence  —  GCA</a:t>
            </a:r>
          </a:p>
          <a:p>
            <a:pPr algn="ctr">
              <a:spcBef>
                <a:spcPts val="200"/>
              </a:spcBef>
            </a:pPr>
            <a:r>
              <a:rPr sz="950" i="1">
                <a:solidFill>
                  <a:srgbClr val="5A5A5A"/>
                </a:solidFill>
                <a:latin typeface="Calibri"/>
              </a:rPr>
              <a:t>AlignScore scores every sentence separately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118104"/>
            <a:ext cx="4663440" cy="749808"/>
          </a:xfrm>
          <a:prstGeom prst="roundRect">
            <a:avLst>
              <a:gd name="adj" fmla="val 9000"/>
            </a:avLst>
          </a:prstGeom>
          <a:solidFill>
            <a:srgbClr val="FDE3C7"/>
          </a:solidFill>
          <a:ln w="13970">
            <a:solidFill>
              <a:srgbClr val="D98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9C5A18"/>
                </a:solidFill>
                <a:latin typeface="Calibri"/>
              </a:rPr>
              <a:t>5. Average → Decide</a:t>
            </a:r>
          </a:p>
          <a:p>
            <a:pPr algn="ctr">
              <a:spcBef>
                <a:spcPts val="200"/>
              </a:spcBef>
            </a:pPr>
            <a:r>
              <a:rPr sz="950" i="1">
                <a:solidFill>
                  <a:srgbClr val="5A5A5A"/>
                </a:solidFill>
                <a:latin typeface="Calibri"/>
              </a:rPr>
              <a:t>mean sentence score → chosen / rejected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0" y="4087368"/>
            <a:ext cx="4663440" cy="749808"/>
          </a:xfrm>
          <a:prstGeom prst="roundRect">
            <a:avLst>
              <a:gd name="adj" fmla="val 9000"/>
            </a:avLst>
          </a:prstGeom>
          <a:solidFill>
            <a:srgbClr val="FDE3C7"/>
          </a:solidFill>
          <a:ln w="13970">
            <a:solidFill>
              <a:srgbClr val="D98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9C5A18"/>
                </a:solidFill>
                <a:latin typeface="Calibri"/>
              </a:rPr>
              <a:t>6. Train Reward Model</a:t>
            </a:r>
          </a:p>
          <a:p>
            <a:pPr algn="ctr">
              <a:spcBef>
                <a:spcPts val="200"/>
              </a:spcBef>
            </a:pPr>
            <a:r>
              <a:rPr sz="950" i="1">
                <a:solidFill>
                  <a:srgbClr val="5A5A5A"/>
                </a:solidFill>
                <a:latin typeface="Calibri"/>
              </a:rPr>
              <a:t>GCA pairs → pairwise accuracy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006840" y="2898648"/>
            <a:ext cx="0" cy="219456"/>
          </a:xfrm>
          <a:prstGeom prst="line">
            <a:avLst/>
          </a:prstGeom>
          <a:ln w="17780">
            <a:solidFill>
              <a:srgbClr val="D98A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006840" y="3867912"/>
            <a:ext cx="0" cy="219456"/>
          </a:xfrm>
          <a:prstGeom prst="line">
            <a:avLst/>
          </a:prstGeom>
          <a:ln w="17780">
            <a:solidFill>
              <a:srgbClr val="D98A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200400" y="5093208"/>
            <a:ext cx="5760720" cy="777240"/>
          </a:xfrm>
          <a:prstGeom prst="roundRect">
            <a:avLst>
              <a:gd name="adj" fmla="val 9000"/>
            </a:avLst>
          </a:prstGeom>
          <a:solidFill>
            <a:srgbClr val="EEEEEE"/>
          </a:solidFill>
          <a:ln w="13970">
            <a:solidFill>
              <a:srgbClr val="2E5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2E5B8A"/>
                </a:solidFill>
                <a:latin typeface="Calibri"/>
              </a:rPr>
              <a:t>7. Compare Accuracy</a:t>
            </a:r>
          </a:p>
          <a:p>
            <a:pPr algn="ctr">
              <a:spcBef>
                <a:spcPts val="200"/>
              </a:spcBef>
            </a:pPr>
            <a:r>
              <a:rPr sz="950" i="1">
                <a:solidFill>
                  <a:srgbClr val="5A5A5A"/>
                </a:solidFill>
                <a:latin typeface="Calibri"/>
              </a:rPr>
              <a:t>Holistic vs GCA — 20 independent runs × 3 dataset sizes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154680" y="4837176"/>
            <a:ext cx="2011680" cy="256032"/>
          </a:xfrm>
          <a:prstGeom prst="bentConnector3">
            <a:avLst/>
          </a:prstGeom>
          <a:ln w="17780">
            <a:solidFill>
              <a:srgbClr val="4A7F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6995160" y="4837176"/>
            <a:ext cx="2011680" cy="256032"/>
          </a:xfrm>
          <a:prstGeom prst="bentConnector3">
            <a:avLst/>
          </a:prstGeom>
          <a:ln w="17780">
            <a:solidFill>
              <a:srgbClr val="D98A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1430000" y="65196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E5B8A"/>
                </a:solidFill>
                <a:latin typeface="Calibri"/>
              </a:rPr>
              <a:t>Experiment Setup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11183112" cy="27940"/>
          </a:xfrm>
          <a:prstGeom prst="rect">
            <a:avLst/>
          </a:prstGeom>
          <a:solidFill>
            <a:srgbClr val="2E5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800" b="0">
                <a:solidFill>
                  <a:srgbClr val="262626"/>
                </a:solidFill>
                <a:latin typeface="Calibri"/>
              </a:rPr>
              <a:t>•  Dataset: CNN/DailyMail news articles</a:t>
            </a:r>
          </a:p>
          <a:p>
            <a:pPr>
              <a:spcAft>
                <a:spcPts val="1800"/>
              </a:spcAft>
            </a:pPr>
            <a:r>
              <a:rPr sz="1800" b="0">
                <a:solidFill>
                  <a:srgbClr val="262626"/>
                </a:solidFill>
                <a:latin typeface="Calibri"/>
              </a:rPr>
              <a:t>•  Candidate model: Mistral-7B-Instruct</a:t>
            </a:r>
          </a:p>
          <a:p>
            <a:pPr>
              <a:spcAft>
                <a:spcPts val="1800"/>
              </a:spcAft>
            </a:pPr>
            <a:r>
              <a:rPr sz="1800" b="0">
                <a:solidFill>
                  <a:srgbClr val="262626"/>
                </a:solidFill>
                <a:latin typeface="Calibri"/>
              </a:rPr>
              <a:t>•  Judge: AlignScore (fixed, deterministic — not an LLM prompt)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46304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800" b="0">
                <a:solidFill>
                  <a:srgbClr val="262626"/>
                </a:solidFill>
                <a:latin typeface="Calibri"/>
              </a:rPr>
              <a:t>•  Reward model: RoBERTa-base, Bradley-Terry</a:t>
            </a:r>
          </a:p>
          <a:p>
            <a:pPr>
              <a:spcAft>
                <a:spcPts val="1800"/>
              </a:spcAft>
            </a:pPr>
            <a:r>
              <a:rPr sz="1800" b="0">
                <a:solidFill>
                  <a:srgbClr val="262626"/>
                </a:solidFill>
                <a:latin typeface="Calibri"/>
              </a:rPr>
              <a:t>•  Evaluation: 5-fold cross-validation</a:t>
            </a:r>
          </a:p>
          <a:p>
            <a:pPr>
              <a:spcAft>
                <a:spcPts val="1800"/>
              </a:spcAft>
            </a:pPr>
            <a:r>
              <a:rPr sz="1800" b="0">
                <a:solidFill>
                  <a:srgbClr val="262626"/>
                </a:solidFill>
                <a:latin typeface="Calibri"/>
              </a:rPr>
              <a:t>•  Repeats: 20 independent runs, at each of 3 sizes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480560"/>
            <a:ext cx="10698480" cy="1188720"/>
          </a:xfrm>
          <a:prstGeom prst="roundRect">
            <a:avLst>
              <a:gd name="adj" fmla="val 9000"/>
            </a:avLst>
          </a:prstGeom>
          <a:solidFill>
            <a:srgbClr val="EEEEEE"/>
          </a:solidFill>
          <a:ln w="13970">
            <a:solidFill>
              <a:srgbClr val="2E5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2E5B8A"/>
                </a:solidFill>
                <a:latin typeface="Calibri"/>
              </a:rPr>
              <a:t>Three dataset sizes tested</a:t>
            </a:r>
          </a:p>
          <a:p>
            <a:pPr algn="ctr">
              <a:spcBef>
                <a:spcPts val="200"/>
              </a:spcBef>
            </a:pPr>
            <a:r>
              <a:rPr sz="1500" i="1">
                <a:solidFill>
                  <a:srgbClr val="5A5A5A"/>
                </a:solidFill>
                <a:latin typeface="Calibri"/>
              </a:rPr>
              <a:t>1,000  /  5,000  /  10,000  preference pairs — each run 20 times, independently seeded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978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A5A5A"/>
                </a:solidFill>
                <a:latin typeface="Calibri"/>
              </a:rPr>
              <a:t>→ 3 sizes × 2 conditions × 20 runs = 120 reward-model trainings in total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196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E5B8A"/>
                </a:solidFill>
                <a:latin typeface="Calibri"/>
              </a:rPr>
              <a:t>Results — 1,000 Training Examples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11183112" cy="27940"/>
          </a:xfrm>
          <a:prstGeom prst="rect">
            <a:avLst/>
          </a:prstGeom>
          <a:solidFill>
            <a:srgbClr val="2E5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17320"/>
          <a:ext cx="6400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737360"/>
                <a:gridCol w="1737360"/>
              </a:tblGrid>
              <a:tr h="518160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2E5B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Holistic</a:t>
                      </a:r>
                    </a:p>
                  </a:txBody>
                  <a:tcPr>
                    <a:solidFill>
                      <a:srgbClr val="2E5B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GCA</a:t>
                      </a:r>
                    </a:p>
                  </a:txBody>
                  <a:tcPr>
                    <a:solidFill>
                      <a:srgbClr val="2E5B8A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62626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62626"/>
                          </a:solidFill>
                        </a:defRPr>
                      </a:pPr>
                      <a:r>
                        <a:t>53.0%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9C5A18"/>
                          </a:solidFill>
                        </a:defRPr>
                      </a:pPr>
                      <a:r>
                        <a:t>56.9%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62626"/>
                          </a:solidFill>
                        </a:defRPr>
                      </a:pPr>
                      <a:r>
                        <a:t>Runs favouring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62626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9C5A18"/>
                          </a:solidFill>
                        </a:defRPr>
                      </a:pPr>
                      <a:r>
                        <a:t>20 / 20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246120"/>
            <a:ext cx="6400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 i="0">
                <a:solidFill>
                  <a:srgbClr val="2E7D32"/>
                </a:solidFill>
                <a:latin typeface="Calibri"/>
              </a:rPr>
              <a:t>GCA wins in every single run.</a:t>
            </a:r>
          </a:p>
          <a:p>
            <a:pPr algn="l">
              <a:lnSpc>
                <a:spcPct val="125000"/>
              </a:lnSpc>
            </a:pPr>
            <a:r>
              <a:rPr sz="2200" b="1" i="0">
                <a:solidFill>
                  <a:srgbClr val="2E7D32"/>
                </a:solidFill>
                <a:latin typeface="Calibri"/>
              </a:rPr>
              <a:t>The gap is statistically significant</a:t>
            </a:r>
          </a:p>
          <a:p>
            <a:pPr algn="l">
              <a:lnSpc>
                <a:spcPct val="125000"/>
              </a:lnSpc>
            </a:pPr>
            <a:r>
              <a:rPr sz="2200" b="1" i="0">
                <a:solidFill>
                  <a:srgbClr val="2E7D32"/>
                </a:solidFill>
                <a:latin typeface="Calibri"/>
              </a:rPr>
              <a:t>(p &lt; 0.001).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417320"/>
            <a:ext cx="3977639" cy="4023360"/>
          </a:xfrm>
          <a:prstGeom prst="roundRect">
            <a:avLst>
              <a:gd name="adj" fmla="val 9000"/>
            </a:avLst>
          </a:prstGeom>
          <a:solidFill>
            <a:srgbClr val="FDE3C7"/>
          </a:solidFill>
          <a:ln w="13970">
            <a:solidFill>
              <a:srgbClr val="D98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3400" b="1">
                <a:solidFill>
                  <a:srgbClr val="9C5A18"/>
                </a:solidFill>
                <a:latin typeface="Calibri"/>
              </a:rPr>
              <a:t>+3.95 points</a:t>
            </a:r>
          </a:p>
          <a:p>
            <a:pPr algn="ctr">
              <a:spcBef>
                <a:spcPts val="200"/>
              </a:spcBef>
            </a:pPr>
            <a:r>
              <a:rPr sz="1500" i="1">
                <a:solidFill>
                  <a:srgbClr val="5A5A5A"/>
                </a:solidFill>
                <a:latin typeface="Calibri"/>
              </a:rPr>
              <a:t>average GCA advantage
Wilcoxon p &lt; 0.001
Cohen's d = 2.22 (large)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064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A5A5A"/>
                </a:solidFill>
                <a:latin typeface="Calibri"/>
              </a:rPr>
              <a:t>With little training data, scoring sentence-by-sentence gives a clearly better signal.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196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E5B8A"/>
                </a:solidFill>
                <a:latin typeface="Calibri"/>
              </a:rPr>
              <a:t>Results — 5,000 and 10,000 Training Examples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11183112" cy="27940"/>
          </a:xfrm>
          <a:prstGeom prst="rect">
            <a:avLst/>
          </a:prstGeom>
          <a:solidFill>
            <a:srgbClr val="2E5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17320"/>
          <a:ext cx="8686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94560"/>
                <a:gridCol w="2194560"/>
                <a:gridCol w="2194560"/>
              </a:tblGrid>
              <a:tr h="518160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>
                    <a:solidFill>
                      <a:srgbClr val="2E5B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Holistic</a:t>
                      </a:r>
                    </a:p>
                  </a:txBody>
                  <a:tcPr>
                    <a:solidFill>
                      <a:srgbClr val="2E5B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GCA</a:t>
                      </a:r>
                    </a:p>
                  </a:txBody>
                  <a:tcPr>
                    <a:solidFill>
                      <a:srgbClr val="2E5B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Difference</a:t>
                      </a:r>
                    </a:p>
                  </a:txBody>
                  <a:tcPr>
                    <a:solidFill>
                      <a:srgbClr val="2E5B8A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62626"/>
                          </a:solidFill>
                        </a:defRPr>
                      </a:pPr>
                      <a:r>
                        <a:t>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62626"/>
                          </a:solidFill>
                        </a:defRPr>
                      </a:pPr>
                      <a:r>
                        <a:t>58.4%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62626"/>
                          </a:solidFill>
                        </a:defRPr>
                      </a:pPr>
                      <a:r>
                        <a:t>58.2%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i="1">
                          <a:solidFill>
                            <a:srgbClr val="5A5A5A"/>
                          </a:solidFill>
                        </a:defRPr>
                      </a:pPr>
                      <a:r>
                        <a:t>no difference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62626"/>
                          </a:solidFill>
                        </a:defRPr>
                      </a:pPr>
                      <a:r>
                        <a:t>10,000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62626"/>
                          </a:solidFill>
                        </a:defRPr>
                      </a:pPr>
                      <a:r>
                        <a:t>58.6%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62626"/>
                          </a:solidFill>
                        </a:defRPr>
                      </a:pPr>
                      <a:r>
                        <a:t>58.5%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i="1">
                          <a:solidFill>
                            <a:srgbClr val="5A5A5A"/>
                          </a:solidFill>
                        </a:defRPr>
                      </a:pPr>
                      <a:r>
                        <a:t>no difference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2461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62626"/>
                </a:solidFill>
                <a:latin typeface="Calibri"/>
              </a:rPr>
              <a:t>The GCA advantage disappears once there is enough training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60520"/>
            <a:ext cx="10698480" cy="1417320"/>
          </a:xfrm>
          <a:prstGeom prst="roundRect">
            <a:avLst>
              <a:gd name="adj" fmla="val 9000"/>
            </a:avLst>
          </a:prstGeom>
          <a:solidFill>
            <a:srgbClr val="EEEEEE"/>
          </a:solidFill>
          <a:ln w="13970">
            <a:solidFill>
              <a:srgbClr val="2E5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2E5B8A"/>
                </a:solidFill>
                <a:latin typeface="Calibri"/>
              </a:rPr>
              <a:t>This is not just "no proof yet" — it's confirmed absent</a:t>
            </a:r>
          </a:p>
          <a:p>
            <a:pPr algn="ctr">
              <a:spcBef>
                <a:spcPts val="200"/>
              </a:spcBef>
            </a:pPr>
            <a:r>
              <a:rPr sz="1400" i="1">
                <a:solidFill>
                  <a:srgbClr val="5A5A5A"/>
                </a:solidFill>
                <a:latin typeface="Calibri"/>
              </a:rPr>
              <a:t>Equivalence tests rule out any real difference bigger than about half a point,
in either direction, at both dataset sizes (20 runs each, same rigor as the 1,000 result).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196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E5B8A"/>
                </a:solidFill>
                <a:latin typeface="Calibri"/>
              </a:rPr>
              <a:t>Accuracy Across All Three Scales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11183112" cy="27940"/>
          </a:xfrm>
          <a:prstGeom prst="rect">
            <a:avLst/>
          </a:prstGeom>
          <a:solidFill>
            <a:srgbClr val="2E5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ward_model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1234440"/>
            <a:ext cx="7680960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3093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5A5A5A"/>
                </a:solidFill>
                <a:latin typeface="Calibri"/>
              </a:rPr>
              <a:t>Both bars grow with more data — the gap between them (orange minus blue) shrinks to nothing.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196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E5B8A"/>
                </a:solidFill>
                <a:latin typeface="Calibri"/>
              </a:rPr>
              <a:t>Key Findings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11183112" cy="27940"/>
          </a:xfrm>
          <a:prstGeom prst="rect">
            <a:avLst/>
          </a:prstGeom>
          <a:solidFill>
            <a:srgbClr val="2E5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</a:pPr>
            <a:r>
              <a:rPr sz="1800" b="0">
                <a:solidFill>
                  <a:srgbClr val="262626"/>
                </a:solidFill>
                <a:latin typeface="Calibri"/>
              </a:rPr>
              <a:t>•  Small data (n=1,000): GCA gives a real, significant boost — all 20 runs agree (p &lt; 0.001).</a:t>
            </a:r>
          </a:p>
          <a:p>
            <a:pPr>
              <a:spcAft>
                <a:spcPts val="2400"/>
              </a:spcAft>
            </a:pPr>
            <a:r>
              <a:rPr sz="1800" b="0">
                <a:solidFill>
                  <a:srgbClr val="262626"/>
                </a:solidFill>
                <a:latin typeface="Calibri"/>
              </a:rPr>
              <a:t>•  Large data (n=5,000 / 10,000): the boost disappears — confirmed, not just unproven.</a:t>
            </a:r>
          </a:p>
          <a:p>
            <a:pPr>
              <a:spcAft>
                <a:spcPts val="2400"/>
              </a:spcAft>
            </a:pPr>
            <a:r>
              <a:rPr sz="1800" b="0">
                <a:solidFill>
                  <a:srgbClr val="262626"/>
                </a:solidFill>
                <a:latin typeface="Calibri"/>
              </a:rPr>
              <a:t>•  Both reward models stay well below "reliable" (53–59% vs. 50% random guessing).</a:t>
            </a:r>
          </a:p>
          <a:p>
            <a:pPr>
              <a:spcAft>
                <a:spcPts val="2400"/>
              </a:spcAft>
            </a:pPr>
            <a:r>
              <a:rPr sz="1800" b="0">
                <a:solidFill>
                  <a:srgbClr val="262626"/>
                </a:solidFill>
                <a:latin typeface="Calibri"/>
              </a:rPr>
              <a:t>•  Checked whether summary length secretly drove the results — it didn't.</a:t>
            </a:r>
          </a:p>
          <a:p>
            <a:pPr>
              <a:spcAft>
                <a:spcPts val="2400"/>
              </a:spcAft>
            </a:pPr>
            <a:r>
              <a:rPr sz="1800" b="0">
                <a:solidFill>
                  <a:srgbClr val="262626"/>
                </a:solidFill>
                <a:latin typeface="Calibri"/>
              </a:rPr>
              <a:t>•  Likely reason: with little data, cleaner labels help most; with more data, the model averages out noisy labels on its own.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196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E5B8A"/>
                </a:solidFill>
                <a:latin typeface="Calibri"/>
              </a:rPr>
              <a:t>Status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11183112" cy="27940"/>
          </a:xfrm>
          <a:prstGeom prst="rect">
            <a:avLst/>
          </a:prstGeom>
          <a:solidFill>
            <a:srgbClr val="2E5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7D32"/>
                </a:solidFill>
                <a:latin typeface="Calibri"/>
              </a:rPr>
              <a:t>Done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262626"/>
                </a:solidFill>
                <a:latin typeface="Calibri"/>
              </a:rPr>
              <a:t>•  AI-judge scoring, both holistic and GCA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262626"/>
                </a:solidFill>
                <a:latin typeface="Calibri"/>
              </a:rPr>
              <a:t>•  Reward-model training and evaluation at all 3 dataset sizes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262626"/>
                </a:solidFill>
                <a:latin typeface="Calibri"/>
              </a:rPr>
              <a:t>•  20 independent runs per size (120 trainings total)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262626"/>
                </a:solidFill>
                <a:latin typeface="Calibri"/>
              </a:rPr>
              <a:t>•  Full statistical testing: significance, effect size, equivalence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5A5A5A"/>
                </a:solidFill>
                <a:latin typeface="Calibri"/>
              </a:rPr>
              <a:t>Open (minor, not urgent)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177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5A5A5A"/>
                </a:solidFill>
                <a:latin typeface="Calibri"/>
              </a:rPr>
              <a:t>•  One side-experiment on article length is partly blocked by a cluster mirror outage — unrelated to the main question above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196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E5B8A"/>
                </a:solidFill>
                <a:latin typeface="Calibri"/>
              </a:rPr>
              <a:t>Questions for Today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11183112" cy="27940"/>
          </a:xfrm>
          <a:prstGeom prst="rect">
            <a:avLst/>
          </a:prstGeom>
          <a:solidFill>
            <a:srgbClr val="2E5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0"/>
              </a:spcAft>
            </a:pPr>
            <a:r>
              <a:rPr sz="2400" b="0">
                <a:solidFill>
                  <a:srgbClr val="262626"/>
                </a:solidFill>
                <a:latin typeface="Calibri"/>
              </a:rPr>
              <a:t>•  Does this fully answer the question about reward-model training and evaluation?</a:t>
            </a:r>
          </a:p>
          <a:p>
            <a:pPr>
              <a:spcAft>
                <a:spcPts val="3000"/>
              </a:spcAft>
            </a:pPr>
            <a:r>
              <a:rPr sz="2400" b="0">
                <a:solidFill>
                  <a:srgbClr val="262626"/>
                </a:solidFill>
                <a:latin typeface="Calibri"/>
              </a:rPr>
              <a:t>•  Anything else you'd like to see before submission?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120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E5B8A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196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